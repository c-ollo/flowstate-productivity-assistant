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6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D5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1097280"/>
          </a:xfrm>
          <a:prstGeom prst="rect">
            <a:avLst/>
          </a:prstGeom>
          <a:noFill/>
        </p:spPr>
        <p:txBody>
          <a:bodyPr wrap="square">
            <a:spAutoFit/>
          </a:bodyPr>
          <a:lstStyle/>
          <a:p>
            <a:pPr algn="ctr">
              <a:defRPr sz="5400" b="1">
                <a:solidFill>
                  <a:srgbClr val="FFFFFF"/>
                </a:solidFill>
                <a:latin typeface="Calibri"/>
              </a:defRPr>
            </a:pPr>
            <a:r>
              <a:t>FlowState</a:t>
            </a:r>
          </a:p>
        </p:txBody>
      </p:sp>
      <p:sp>
        <p:nvSpPr>
          <p:cNvPr id="4" name="TextBox 3"/>
          <p:cNvSpPr txBox="1"/>
          <p:nvPr/>
        </p:nvSpPr>
        <p:spPr>
          <a:xfrm>
            <a:off x="914400" y="2926080"/>
            <a:ext cx="10058400" cy="731520"/>
          </a:xfrm>
          <a:prstGeom prst="rect">
            <a:avLst/>
          </a:prstGeom>
          <a:noFill/>
        </p:spPr>
        <p:txBody>
          <a:bodyPr wrap="square">
            <a:spAutoFit/>
          </a:bodyPr>
          <a:lstStyle/>
          <a:p>
            <a:pPr algn="ctr">
              <a:defRPr sz="2800" b="0">
                <a:solidFill>
                  <a:srgbClr val="0D59F2"/>
                </a:solidFill>
                <a:latin typeface="Calibri"/>
              </a:defRPr>
            </a:pPr>
            <a:r>
              <a:t>High-Level Design &amp; Architecture</a:t>
            </a:r>
          </a:p>
        </p:txBody>
      </p:sp>
      <p:sp>
        <p:nvSpPr>
          <p:cNvPr id="5" name="TextBox 4"/>
          <p:cNvSpPr txBox="1"/>
          <p:nvPr/>
        </p:nvSpPr>
        <p:spPr>
          <a:xfrm>
            <a:off x="914400" y="3840480"/>
            <a:ext cx="10058400" cy="548640"/>
          </a:xfrm>
          <a:prstGeom prst="rect">
            <a:avLst/>
          </a:prstGeom>
          <a:noFill/>
        </p:spPr>
        <p:txBody>
          <a:bodyPr wrap="square">
            <a:spAutoFit/>
          </a:bodyPr>
          <a:lstStyle/>
          <a:p>
            <a:pPr algn="ctr">
              <a:defRPr sz="1600" b="0">
                <a:solidFill>
                  <a:srgbClr val="9CA3AF"/>
                </a:solidFill>
                <a:latin typeface="Calibri"/>
              </a:defRPr>
            </a:pPr>
            <a:r>
              <a:t>AI-Powered Productivity OS  |  Local-First  |  Privacy-First</a:t>
            </a:r>
          </a:p>
        </p:txBody>
      </p:sp>
      <p:sp>
        <p:nvSpPr>
          <p:cNvPr id="6" name="Rectangle 5"/>
          <p:cNvSpPr/>
          <p:nvPr/>
        </p:nvSpPr>
        <p:spPr>
          <a:xfrm>
            <a:off x="0" y="6492240"/>
            <a:ext cx="12191695" cy="365760"/>
          </a:xfrm>
          <a:prstGeom prst="rect">
            <a:avLst/>
          </a:prstGeom>
          <a:solidFill>
            <a:srgbClr val="1B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6510528"/>
            <a:ext cx="10058400" cy="320040"/>
          </a:xfrm>
          <a:prstGeom prst="rect">
            <a:avLst/>
          </a:prstGeom>
          <a:noFill/>
        </p:spPr>
        <p:txBody>
          <a:bodyPr wrap="square">
            <a:spAutoFit/>
          </a:bodyPr>
          <a:lstStyle/>
          <a:p>
            <a:pPr algn="ctr">
              <a:defRPr sz="1100" b="0">
                <a:solidFill>
                  <a:srgbClr val="9CA3AF"/>
                </a:solidFill>
                <a:latin typeface="Calibri"/>
              </a:defRPr>
            </a:pPr>
            <a:r>
              <a:t>Unified Gmail + Slack + Google Calendar + Zoom  |  AI Enrichment Pipeline  |  February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622"/>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3200" b="1">
                <a:solidFill>
                  <a:srgbClr val="FFFFFF"/>
                </a:solidFill>
                <a:latin typeface="Calibri"/>
              </a:defRPr>
            </a:pPr>
            <a:r>
              <a:t>Project Overview</a:t>
            </a:r>
          </a:p>
        </p:txBody>
      </p:sp>
      <p:sp>
        <p:nvSpPr>
          <p:cNvPr id="3" name="Rectangle 2"/>
          <p:cNvSpPr/>
          <p:nvPr/>
        </p:nvSpPr>
        <p:spPr>
          <a:xfrm>
            <a:off x="731520" y="914400"/>
            <a:ext cx="1828800" cy="36576"/>
          </a:xfrm>
          <a:prstGeom prst="rect">
            <a:avLst/>
          </a:prstGeom>
          <a:solidFill>
            <a:srgbClr val="0D5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10515600" cy="914400"/>
          </a:xfrm>
          <a:prstGeom prst="rect">
            <a:avLst/>
          </a:prstGeom>
          <a:noFill/>
        </p:spPr>
        <p:txBody>
          <a:bodyPr wrap="square">
            <a:spAutoFit/>
          </a:bodyPr>
          <a:lstStyle/>
          <a:p>
            <a:pPr algn="l">
              <a:defRPr sz="1500" b="0">
                <a:solidFill>
                  <a:srgbClr val="9CA3AF"/>
                </a:solidFill>
                <a:latin typeface="Calibri"/>
              </a:defRPr>
            </a:pPr>
            <a:r>
              <a:t>FlowState is a local-first, AI-powered personal assistant that unifies Gmail, Slack, Google Calendar, and Zoom into a single intelligent interface. It automatically surfaces what needs attention, extracts deadlines, identifies action items, and delivers proactive daily briefings.</a:t>
            </a:r>
          </a:p>
        </p:txBody>
      </p:sp>
      <p:sp>
        <p:nvSpPr>
          <p:cNvPr id="5" name="Rounded Rectangle 4"/>
          <p:cNvSpPr/>
          <p:nvPr/>
        </p:nvSpPr>
        <p:spPr>
          <a:xfrm>
            <a:off x="731520" y="2560320"/>
            <a:ext cx="2560320" cy="237744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697480"/>
            <a:ext cx="2011680" cy="411480"/>
          </a:xfrm>
          <a:prstGeom prst="rect">
            <a:avLst/>
          </a:prstGeom>
          <a:noFill/>
        </p:spPr>
        <p:txBody>
          <a:bodyPr wrap="square">
            <a:spAutoFit/>
          </a:bodyPr>
          <a:lstStyle/>
          <a:p>
            <a:pPr algn="l">
              <a:defRPr sz="1600" b="1">
                <a:solidFill>
                  <a:srgbClr val="0D59F2"/>
                </a:solidFill>
                <a:latin typeface="Calibri"/>
              </a:defRPr>
            </a:pPr>
            <a:r>
              <a:t>Unified Inbox</a:t>
            </a:r>
          </a:p>
        </p:txBody>
      </p:sp>
      <p:sp>
        <p:nvSpPr>
          <p:cNvPr id="7" name="TextBox 6"/>
          <p:cNvSpPr txBox="1"/>
          <p:nvPr/>
        </p:nvSpPr>
        <p:spPr>
          <a:xfrm>
            <a:off x="1005840" y="3063240"/>
            <a:ext cx="2011680" cy="1737360"/>
          </a:xfrm>
          <a:prstGeom prst="rect">
            <a:avLst/>
          </a:prstGeom>
          <a:noFill/>
        </p:spPr>
        <p:txBody>
          <a:bodyPr wrap="square">
            <a:spAutoFit/>
          </a:bodyPr>
          <a:lstStyle/>
          <a:p>
            <a:pPr>
              <a:spcAft>
                <a:spcPts val="600"/>
              </a:spcAft>
              <a:defRPr sz="1200">
                <a:solidFill>
                  <a:srgbClr val="9CA3AF"/>
                </a:solidFill>
                <a:latin typeface="Calibri"/>
              </a:defRPr>
            </a:pPr>
            <a:r>
              <a:t>Aggregate emails, Slack messages,</a:t>
            </a:r>
          </a:p>
          <a:p>
            <a:pPr>
              <a:spcAft>
                <a:spcPts val="600"/>
              </a:spcAft>
              <a:defRPr sz="1200">
                <a:solidFill>
                  <a:srgbClr val="9CA3AF"/>
                </a:solidFill>
                <a:latin typeface="Calibri"/>
              </a:defRPr>
            </a:pPr>
            <a:r>
              <a:t>calendar events, and Zoom transcripts</a:t>
            </a:r>
          </a:p>
          <a:p>
            <a:pPr>
              <a:spcAft>
                <a:spcPts val="600"/>
              </a:spcAft>
              <a:defRPr sz="1200">
                <a:solidFill>
                  <a:srgbClr val="9CA3AF"/>
                </a:solidFill>
                <a:latin typeface="Calibri"/>
              </a:defRPr>
            </a:pPr>
            <a:r>
              <a:t>into one prioritized feed</a:t>
            </a:r>
          </a:p>
        </p:txBody>
      </p:sp>
      <p:sp>
        <p:nvSpPr>
          <p:cNvPr id="8" name="Rounded Rectangle 7"/>
          <p:cNvSpPr/>
          <p:nvPr/>
        </p:nvSpPr>
        <p:spPr>
          <a:xfrm>
            <a:off x="3520439" y="2560320"/>
            <a:ext cx="2560320" cy="237744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94759" y="2697480"/>
            <a:ext cx="2011680" cy="411480"/>
          </a:xfrm>
          <a:prstGeom prst="rect">
            <a:avLst/>
          </a:prstGeom>
          <a:noFill/>
        </p:spPr>
        <p:txBody>
          <a:bodyPr wrap="square">
            <a:spAutoFit/>
          </a:bodyPr>
          <a:lstStyle/>
          <a:p>
            <a:pPr algn="l">
              <a:defRPr sz="1600" b="1">
                <a:solidFill>
                  <a:srgbClr val="34D399"/>
                </a:solidFill>
                <a:latin typeface="Calibri"/>
              </a:defRPr>
            </a:pPr>
            <a:r>
              <a:t>AI Intelligence</a:t>
            </a:r>
          </a:p>
        </p:txBody>
      </p:sp>
      <p:sp>
        <p:nvSpPr>
          <p:cNvPr id="10" name="TextBox 9"/>
          <p:cNvSpPr txBox="1"/>
          <p:nvPr/>
        </p:nvSpPr>
        <p:spPr>
          <a:xfrm>
            <a:off x="3794759" y="3063240"/>
            <a:ext cx="2011680" cy="1737360"/>
          </a:xfrm>
          <a:prstGeom prst="rect">
            <a:avLst/>
          </a:prstGeom>
          <a:noFill/>
        </p:spPr>
        <p:txBody>
          <a:bodyPr wrap="square">
            <a:spAutoFit/>
          </a:bodyPr>
          <a:lstStyle/>
          <a:p>
            <a:pPr>
              <a:spcAft>
                <a:spcPts val="600"/>
              </a:spcAft>
              <a:defRPr sz="1200">
                <a:solidFill>
                  <a:srgbClr val="9CA3AF"/>
                </a:solidFill>
                <a:latin typeface="Calibri"/>
              </a:defRPr>
            </a:pPr>
            <a:r>
              <a:t>Smart summaries, deadline extraction,</a:t>
            </a:r>
          </a:p>
          <a:p>
            <a:pPr>
              <a:spcAft>
                <a:spcPts val="600"/>
              </a:spcAft>
              <a:defRPr sz="1200">
                <a:solidFill>
                  <a:srgbClr val="9CA3AF"/>
                </a:solidFill>
                <a:latin typeface="Calibri"/>
              </a:defRPr>
            </a:pPr>
            <a:r>
              <a:t>action classification, priority scoring,</a:t>
            </a:r>
          </a:p>
          <a:p>
            <a:pPr>
              <a:spcAft>
                <a:spcPts val="600"/>
              </a:spcAft>
              <a:defRPr sz="1200">
                <a:solidFill>
                  <a:srgbClr val="9CA3AF"/>
                </a:solidFill>
                <a:latin typeface="Calibri"/>
              </a:defRPr>
            </a:pPr>
            <a:r>
              <a:t>and category detection</a:t>
            </a:r>
          </a:p>
        </p:txBody>
      </p:sp>
      <p:sp>
        <p:nvSpPr>
          <p:cNvPr id="11" name="Rounded Rectangle 10"/>
          <p:cNvSpPr/>
          <p:nvPr/>
        </p:nvSpPr>
        <p:spPr>
          <a:xfrm>
            <a:off x="6309359" y="2560320"/>
            <a:ext cx="2560320" cy="237744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79" y="2697480"/>
            <a:ext cx="2011680" cy="411480"/>
          </a:xfrm>
          <a:prstGeom prst="rect">
            <a:avLst/>
          </a:prstGeom>
          <a:noFill/>
        </p:spPr>
        <p:txBody>
          <a:bodyPr wrap="square">
            <a:spAutoFit/>
          </a:bodyPr>
          <a:lstStyle/>
          <a:p>
            <a:pPr algn="l">
              <a:defRPr sz="1600" b="1">
                <a:solidFill>
                  <a:srgbClr val="FBBF24"/>
                </a:solidFill>
                <a:latin typeface="Calibri"/>
              </a:defRPr>
            </a:pPr>
            <a:r>
              <a:t>Privacy-First</a:t>
            </a:r>
          </a:p>
        </p:txBody>
      </p:sp>
      <p:sp>
        <p:nvSpPr>
          <p:cNvPr id="13" name="TextBox 12"/>
          <p:cNvSpPr txBox="1"/>
          <p:nvPr/>
        </p:nvSpPr>
        <p:spPr>
          <a:xfrm>
            <a:off x="6583679" y="3063240"/>
            <a:ext cx="2011680" cy="1737360"/>
          </a:xfrm>
          <a:prstGeom prst="rect">
            <a:avLst/>
          </a:prstGeom>
          <a:noFill/>
        </p:spPr>
        <p:txBody>
          <a:bodyPr wrap="square">
            <a:spAutoFit/>
          </a:bodyPr>
          <a:lstStyle/>
          <a:p>
            <a:pPr>
              <a:spcAft>
                <a:spcPts val="600"/>
              </a:spcAft>
              <a:defRPr sz="1200">
                <a:solidFill>
                  <a:srgbClr val="9CA3AF"/>
                </a:solidFill>
                <a:latin typeface="Calibri"/>
              </a:defRPr>
            </a:pPr>
            <a:r>
              <a:t>All data stays local. AI uses your</a:t>
            </a:r>
          </a:p>
          <a:p>
            <a:pPr>
              <a:spcAft>
                <a:spcPts val="600"/>
              </a:spcAft>
              <a:defRPr sz="1200">
                <a:solidFill>
                  <a:srgbClr val="9CA3AF"/>
                </a:solidFill>
                <a:latin typeface="Calibri"/>
              </a:defRPr>
            </a:pPr>
            <a:r>
              <a:t>own API keys. No external servers</a:t>
            </a:r>
          </a:p>
          <a:p>
            <a:pPr>
              <a:spcAft>
                <a:spcPts val="600"/>
              </a:spcAft>
              <a:defRPr sz="1200">
                <a:solidFill>
                  <a:srgbClr val="9CA3AF"/>
                </a:solidFill>
                <a:latin typeface="Calibri"/>
              </a:defRPr>
            </a:pPr>
            <a:r>
              <a:t>store your personal data.</a:t>
            </a:r>
          </a:p>
        </p:txBody>
      </p:sp>
      <p:sp>
        <p:nvSpPr>
          <p:cNvPr id="14" name="Rounded Rectangle 13"/>
          <p:cNvSpPr/>
          <p:nvPr/>
        </p:nvSpPr>
        <p:spPr>
          <a:xfrm>
            <a:off x="9098280" y="2560320"/>
            <a:ext cx="2560320" cy="237744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72600" y="2697480"/>
            <a:ext cx="2011680" cy="411480"/>
          </a:xfrm>
          <a:prstGeom prst="rect">
            <a:avLst/>
          </a:prstGeom>
          <a:noFill/>
        </p:spPr>
        <p:txBody>
          <a:bodyPr wrap="square">
            <a:spAutoFit/>
          </a:bodyPr>
          <a:lstStyle/>
          <a:p>
            <a:pPr algn="l">
              <a:defRPr sz="1600" b="1">
                <a:solidFill>
                  <a:srgbClr val="60A5FA"/>
                </a:solidFill>
                <a:latin typeface="Calibri"/>
              </a:defRPr>
            </a:pPr>
            <a:r>
              <a:t>Actionable Insights</a:t>
            </a:r>
          </a:p>
        </p:txBody>
      </p:sp>
      <p:sp>
        <p:nvSpPr>
          <p:cNvPr id="16" name="TextBox 15"/>
          <p:cNvSpPr txBox="1"/>
          <p:nvPr/>
        </p:nvSpPr>
        <p:spPr>
          <a:xfrm>
            <a:off x="9372600" y="3063240"/>
            <a:ext cx="2011680" cy="1737360"/>
          </a:xfrm>
          <a:prstGeom prst="rect">
            <a:avLst/>
          </a:prstGeom>
          <a:noFill/>
        </p:spPr>
        <p:txBody>
          <a:bodyPr wrap="square">
            <a:spAutoFit/>
          </a:bodyPr>
          <a:lstStyle/>
          <a:p>
            <a:pPr>
              <a:spcAft>
                <a:spcPts val="600"/>
              </a:spcAft>
              <a:defRPr sz="1200">
                <a:solidFill>
                  <a:srgbClr val="9CA3AF"/>
                </a:solidFill>
                <a:latin typeface="Calibri"/>
              </a:defRPr>
            </a:pPr>
            <a:r>
              <a:t>Daily briefings, deadline dashboard,</a:t>
            </a:r>
          </a:p>
          <a:p>
            <a:pPr>
              <a:spcAft>
                <a:spcPts val="600"/>
              </a:spcAft>
              <a:defRPr sz="1200">
                <a:solidFill>
                  <a:srgbClr val="9CA3AF"/>
                </a:solidFill>
                <a:latin typeface="Calibri"/>
              </a:defRPr>
            </a:pPr>
            <a:r>
              <a:t>task board, reminders, and natural</a:t>
            </a:r>
          </a:p>
          <a:p>
            <a:pPr>
              <a:spcAft>
                <a:spcPts val="600"/>
              </a:spcAft>
              <a:defRPr sz="1200">
                <a:solidFill>
                  <a:srgbClr val="9CA3AF"/>
                </a:solidFill>
                <a:latin typeface="Calibri"/>
              </a:defRPr>
            </a:pPr>
            <a:r>
              <a:t>language chat interface</a:t>
            </a:r>
          </a:p>
        </p:txBody>
      </p:sp>
      <p:sp>
        <p:nvSpPr>
          <p:cNvPr id="17" name="TextBox 16"/>
          <p:cNvSpPr txBox="1"/>
          <p:nvPr/>
        </p:nvSpPr>
        <p:spPr>
          <a:xfrm>
            <a:off x="731520" y="5303520"/>
            <a:ext cx="10058400" cy="457200"/>
          </a:xfrm>
          <a:prstGeom prst="rect">
            <a:avLst/>
          </a:prstGeom>
          <a:noFill/>
        </p:spPr>
        <p:txBody>
          <a:bodyPr wrap="square">
            <a:spAutoFit/>
          </a:bodyPr>
          <a:lstStyle/>
          <a:p>
            <a:pPr algn="ctr">
              <a:defRPr sz="1400" b="0">
                <a:solidFill>
                  <a:srgbClr val="9CA3AF"/>
                </a:solidFill>
                <a:latin typeface="Calibri"/>
              </a:defRPr>
            </a:pPr>
            <a:r>
              <a:t>4 Integrations    |    5-Stage AI Pipeline    |    Real-time Sync    |    Natural Language Chat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622"/>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3200" b="1">
                <a:solidFill>
                  <a:srgbClr val="FFFFFF"/>
                </a:solidFill>
                <a:latin typeface="Calibri"/>
              </a:defRPr>
            </a:pPr>
            <a:r>
              <a:t>System Architecture</a:t>
            </a:r>
          </a:p>
        </p:txBody>
      </p:sp>
      <p:sp>
        <p:nvSpPr>
          <p:cNvPr id="3" name="Rectangle 2"/>
          <p:cNvSpPr/>
          <p:nvPr/>
        </p:nvSpPr>
        <p:spPr>
          <a:xfrm>
            <a:off x="731520" y="914400"/>
            <a:ext cx="1828800" cy="36576"/>
          </a:xfrm>
          <a:prstGeom prst="rect">
            <a:avLst/>
          </a:prstGeom>
          <a:solidFill>
            <a:srgbClr val="0D5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2743200" cy="365760"/>
          </a:xfrm>
          <a:prstGeom prst="rect">
            <a:avLst/>
          </a:prstGeom>
          <a:noFill/>
        </p:spPr>
        <p:txBody>
          <a:bodyPr wrap="square">
            <a:spAutoFit/>
          </a:bodyPr>
          <a:lstStyle/>
          <a:p>
            <a:pPr algn="l">
              <a:defRPr sz="1400" b="1">
                <a:solidFill>
                  <a:srgbClr val="9CA3AF"/>
                </a:solidFill>
                <a:latin typeface="Calibri"/>
              </a:defRPr>
            </a:pPr>
            <a:r>
              <a:t>External Services</a:t>
            </a:r>
          </a:p>
        </p:txBody>
      </p:sp>
      <p:sp>
        <p:nvSpPr>
          <p:cNvPr id="5" name="Rounded Rectangle 4"/>
          <p:cNvSpPr/>
          <p:nvPr/>
        </p:nvSpPr>
        <p:spPr>
          <a:xfrm>
            <a:off x="731520" y="1554480"/>
            <a:ext cx="1828800" cy="54864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27632"/>
            <a:ext cx="1554480" cy="365760"/>
          </a:xfrm>
          <a:prstGeom prst="rect">
            <a:avLst/>
          </a:prstGeom>
          <a:noFill/>
        </p:spPr>
        <p:txBody>
          <a:bodyPr wrap="square">
            <a:spAutoFit/>
          </a:bodyPr>
          <a:lstStyle/>
          <a:p>
            <a:pPr algn="ctr">
              <a:defRPr sz="1300" b="1">
                <a:solidFill>
                  <a:srgbClr val="F87171"/>
                </a:solidFill>
                <a:latin typeface="Calibri"/>
              </a:defRPr>
            </a:pPr>
            <a:r>
              <a:t>Gmail API</a:t>
            </a:r>
          </a:p>
        </p:txBody>
      </p:sp>
      <p:sp>
        <p:nvSpPr>
          <p:cNvPr id="7" name="Rounded Rectangle 6"/>
          <p:cNvSpPr/>
          <p:nvPr/>
        </p:nvSpPr>
        <p:spPr>
          <a:xfrm>
            <a:off x="2834639" y="1554480"/>
            <a:ext cx="1828800" cy="54864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799" y="1627632"/>
            <a:ext cx="1554480" cy="365760"/>
          </a:xfrm>
          <a:prstGeom prst="rect">
            <a:avLst/>
          </a:prstGeom>
          <a:noFill/>
        </p:spPr>
        <p:txBody>
          <a:bodyPr wrap="square">
            <a:spAutoFit/>
          </a:bodyPr>
          <a:lstStyle/>
          <a:p>
            <a:pPr algn="ctr">
              <a:defRPr sz="1300" b="1">
                <a:solidFill>
                  <a:srgbClr val="FBBF24"/>
                </a:solidFill>
                <a:latin typeface="Calibri"/>
              </a:defRPr>
            </a:pPr>
            <a:r>
              <a:t>Slack API</a:t>
            </a:r>
          </a:p>
        </p:txBody>
      </p:sp>
      <p:sp>
        <p:nvSpPr>
          <p:cNvPr id="9" name="Rounded Rectangle 8"/>
          <p:cNvSpPr/>
          <p:nvPr/>
        </p:nvSpPr>
        <p:spPr>
          <a:xfrm>
            <a:off x="4937759" y="1554480"/>
            <a:ext cx="1828800" cy="54864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19" y="1627632"/>
            <a:ext cx="1554480" cy="365760"/>
          </a:xfrm>
          <a:prstGeom prst="rect">
            <a:avLst/>
          </a:prstGeom>
          <a:noFill/>
        </p:spPr>
        <p:txBody>
          <a:bodyPr wrap="square">
            <a:spAutoFit/>
          </a:bodyPr>
          <a:lstStyle/>
          <a:p>
            <a:pPr algn="ctr">
              <a:defRPr sz="1300" b="1">
                <a:solidFill>
                  <a:srgbClr val="60A5FA"/>
                </a:solidFill>
                <a:latin typeface="Calibri"/>
              </a:defRPr>
            </a:pPr>
            <a:r>
              <a:t>Google Calendar</a:t>
            </a:r>
          </a:p>
        </p:txBody>
      </p:sp>
      <p:sp>
        <p:nvSpPr>
          <p:cNvPr id="11" name="Rounded Rectangle 10"/>
          <p:cNvSpPr/>
          <p:nvPr/>
        </p:nvSpPr>
        <p:spPr>
          <a:xfrm>
            <a:off x="7040879" y="1554480"/>
            <a:ext cx="1828800" cy="54864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78039" y="1627632"/>
            <a:ext cx="1554480" cy="365760"/>
          </a:xfrm>
          <a:prstGeom prst="rect">
            <a:avLst/>
          </a:prstGeom>
          <a:noFill/>
        </p:spPr>
        <p:txBody>
          <a:bodyPr wrap="square">
            <a:spAutoFit/>
          </a:bodyPr>
          <a:lstStyle/>
          <a:p>
            <a:pPr algn="ctr">
              <a:defRPr sz="1300" b="1">
                <a:solidFill>
                  <a:srgbClr val="0D59F2"/>
                </a:solidFill>
                <a:latin typeface="Calibri"/>
              </a:defRPr>
            </a:pPr>
            <a:r>
              <a:t>Zoom API</a:t>
            </a:r>
          </a:p>
        </p:txBody>
      </p:sp>
      <p:sp>
        <p:nvSpPr>
          <p:cNvPr id="13" name="TextBox 12"/>
          <p:cNvSpPr txBox="1"/>
          <p:nvPr/>
        </p:nvSpPr>
        <p:spPr>
          <a:xfrm>
            <a:off x="1463040" y="2103120"/>
            <a:ext cx="365760" cy="365760"/>
          </a:xfrm>
          <a:prstGeom prst="rect">
            <a:avLst/>
          </a:prstGeom>
          <a:noFill/>
        </p:spPr>
        <p:txBody>
          <a:bodyPr wrap="square">
            <a:spAutoFit/>
          </a:bodyPr>
          <a:lstStyle/>
          <a:p>
            <a:pPr algn="ctr">
              <a:defRPr sz="1800" b="0">
                <a:solidFill>
                  <a:srgbClr val="9CA3AF"/>
                </a:solidFill>
                <a:latin typeface="Calibri"/>
              </a:defRPr>
            </a:pPr>
            <a:r>
              <a:t>v</a:t>
            </a:r>
          </a:p>
        </p:txBody>
      </p:sp>
      <p:sp>
        <p:nvSpPr>
          <p:cNvPr id="14" name="TextBox 13"/>
          <p:cNvSpPr txBox="1"/>
          <p:nvPr/>
        </p:nvSpPr>
        <p:spPr>
          <a:xfrm>
            <a:off x="3566160" y="2103120"/>
            <a:ext cx="365760" cy="365760"/>
          </a:xfrm>
          <a:prstGeom prst="rect">
            <a:avLst/>
          </a:prstGeom>
          <a:noFill/>
        </p:spPr>
        <p:txBody>
          <a:bodyPr wrap="square">
            <a:spAutoFit/>
          </a:bodyPr>
          <a:lstStyle/>
          <a:p>
            <a:pPr algn="ctr">
              <a:defRPr sz="1800" b="0">
                <a:solidFill>
                  <a:srgbClr val="9CA3AF"/>
                </a:solidFill>
                <a:latin typeface="Calibri"/>
              </a:defRPr>
            </a:pPr>
            <a:r>
              <a:t>v</a:t>
            </a:r>
          </a:p>
        </p:txBody>
      </p:sp>
      <p:sp>
        <p:nvSpPr>
          <p:cNvPr id="15" name="TextBox 14"/>
          <p:cNvSpPr txBox="1"/>
          <p:nvPr/>
        </p:nvSpPr>
        <p:spPr>
          <a:xfrm>
            <a:off x="5669279" y="2103120"/>
            <a:ext cx="365760" cy="365760"/>
          </a:xfrm>
          <a:prstGeom prst="rect">
            <a:avLst/>
          </a:prstGeom>
          <a:noFill/>
        </p:spPr>
        <p:txBody>
          <a:bodyPr wrap="square">
            <a:spAutoFit/>
          </a:bodyPr>
          <a:lstStyle/>
          <a:p>
            <a:pPr algn="ctr">
              <a:defRPr sz="1800" b="0">
                <a:solidFill>
                  <a:srgbClr val="9CA3AF"/>
                </a:solidFill>
                <a:latin typeface="Calibri"/>
              </a:defRPr>
            </a:pPr>
            <a:r>
              <a:t>v</a:t>
            </a:r>
          </a:p>
        </p:txBody>
      </p:sp>
      <p:sp>
        <p:nvSpPr>
          <p:cNvPr id="16" name="TextBox 15"/>
          <p:cNvSpPr txBox="1"/>
          <p:nvPr/>
        </p:nvSpPr>
        <p:spPr>
          <a:xfrm>
            <a:off x="7772400" y="2103120"/>
            <a:ext cx="365760" cy="365760"/>
          </a:xfrm>
          <a:prstGeom prst="rect">
            <a:avLst/>
          </a:prstGeom>
          <a:noFill/>
        </p:spPr>
        <p:txBody>
          <a:bodyPr wrap="square">
            <a:spAutoFit/>
          </a:bodyPr>
          <a:lstStyle/>
          <a:p>
            <a:pPr algn="ctr">
              <a:defRPr sz="1800" b="0">
                <a:solidFill>
                  <a:srgbClr val="9CA3AF"/>
                </a:solidFill>
                <a:latin typeface="Calibri"/>
              </a:defRPr>
            </a:pPr>
            <a:r>
              <a:t>v</a:t>
            </a:r>
          </a:p>
        </p:txBody>
      </p:sp>
      <p:sp>
        <p:nvSpPr>
          <p:cNvPr id="17" name="Rounded Rectangle 16"/>
          <p:cNvSpPr/>
          <p:nvPr/>
        </p:nvSpPr>
        <p:spPr>
          <a:xfrm>
            <a:off x="731520" y="2468880"/>
            <a:ext cx="8229600" cy="640080"/>
          </a:xfrm>
          <a:prstGeom prst="roundRect">
            <a:avLst>
              <a:gd name="adj" fmla="val 5000"/>
            </a:avLst>
          </a:prstGeom>
          <a:solidFill>
            <a:srgbClr val="151C30"/>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2560320"/>
            <a:ext cx="7863840" cy="457200"/>
          </a:xfrm>
          <a:prstGeom prst="rect">
            <a:avLst/>
          </a:prstGeom>
          <a:noFill/>
        </p:spPr>
        <p:txBody>
          <a:bodyPr wrap="square">
            <a:spAutoFit/>
          </a:bodyPr>
          <a:lstStyle/>
          <a:p>
            <a:pPr algn="ctr">
              <a:defRPr sz="1300" b="1">
                <a:solidFill>
                  <a:srgbClr val="0D59F2"/>
                </a:solidFill>
                <a:latin typeface="Calibri"/>
              </a:defRPr>
            </a:pPr>
            <a:r>
              <a:t>Integration Adapters Layer  —  OAuth + Sync + Parsing  (gmail.py, slack.py, calendar.py, zoom.py)</a:t>
            </a:r>
          </a:p>
        </p:txBody>
      </p:sp>
      <p:sp>
        <p:nvSpPr>
          <p:cNvPr id="19" name="TextBox 18"/>
          <p:cNvSpPr txBox="1"/>
          <p:nvPr/>
        </p:nvSpPr>
        <p:spPr>
          <a:xfrm>
            <a:off x="4389120" y="3108960"/>
            <a:ext cx="548640" cy="365760"/>
          </a:xfrm>
          <a:prstGeom prst="rect">
            <a:avLst/>
          </a:prstGeom>
          <a:noFill/>
        </p:spPr>
        <p:txBody>
          <a:bodyPr wrap="square">
            <a:spAutoFit/>
          </a:bodyPr>
          <a:lstStyle/>
          <a:p>
            <a:pPr algn="ctr">
              <a:defRPr sz="1800" b="0">
                <a:solidFill>
                  <a:srgbClr val="9CA3AF"/>
                </a:solidFill>
                <a:latin typeface="Calibri"/>
              </a:defRPr>
            </a:pPr>
            <a:r>
              <a:t>v</a:t>
            </a:r>
          </a:p>
        </p:txBody>
      </p:sp>
      <p:sp>
        <p:nvSpPr>
          <p:cNvPr id="20" name="Rounded Rectangle 19"/>
          <p:cNvSpPr/>
          <p:nvPr/>
        </p:nvSpPr>
        <p:spPr>
          <a:xfrm>
            <a:off x="731520" y="3474720"/>
            <a:ext cx="5029200" cy="2560320"/>
          </a:xfrm>
          <a:prstGeom prst="roundRect">
            <a:avLst>
              <a:gd name="adj" fmla="val 5000"/>
            </a:avLst>
          </a:prstGeom>
          <a:solidFill>
            <a:srgbClr val="151C30"/>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566160"/>
            <a:ext cx="4663440" cy="365760"/>
          </a:xfrm>
          <a:prstGeom prst="rect">
            <a:avLst/>
          </a:prstGeom>
          <a:noFill/>
        </p:spPr>
        <p:txBody>
          <a:bodyPr wrap="square">
            <a:spAutoFit/>
          </a:bodyPr>
          <a:lstStyle/>
          <a:p>
            <a:pPr algn="l">
              <a:defRPr sz="1400" b="1">
                <a:solidFill>
                  <a:srgbClr val="FFFFFF"/>
                </a:solidFill>
                <a:latin typeface="Calibri"/>
              </a:defRPr>
            </a:pPr>
            <a:r>
              <a:t>Backend Core (FastAPI + Async SQLAlchemy)</a:t>
            </a:r>
          </a:p>
        </p:txBody>
      </p:sp>
      <p:sp>
        <p:nvSpPr>
          <p:cNvPr id="22" name="TextBox 21"/>
          <p:cNvSpPr txBox="1"/>
          <p:nvPr/>
        </p:nvSpPr>
        <p:spPr>
          <a:xfrm>
            <a:off x="914400" y="3977639"/>
            <a:ext cx="4663440" cy="1920240"/>
          </a:xfrm>
          <a:prstGeom prst="rect">
            <a:avLst/>
          </a:prstGeom>
          <a:noFill/>
        </p:spPr>
        <p:txBody>
          <a:bodyPr wrap="square">
            <a:spAutoFit/>
          </a:bodyPr>
          <a:lstStyle/>
          <a:p>
            <a:pPr>
              <a:spcAft>
                <a:spcPts val="600"/>
              </a:spcAft>
              <a:defRPr sz="1100">
                <a:solidFill>
                  <a:srgbClr val="9CA3AF"/>
                </a:solidFill>
                <a:latin typeface="Calibri"/>
              </a:defRPr>
            </a:pPr>
            <a:r>
              <a:t>API Layer:  /auth  /inbox  /deadlines  /tasks  /briefings  /chat  /connections  /transcripts</a:t>
            </a:r>
          </a:p>
          <a:p>
            <a:pPr>
              <a:spcAft>
                <a:spcPts val="600"/>
              </a:spcAft>
              <a:defRPr sz="1100">
                <a:solidFill>
                  <a:srgbClr val="9CA3AF"/>
                </a:solidFill>
                <a:latin typeface="Calibri"/>
              </a:defRPr>
            </a:pPr>
            <a:r>
              <a:t>Service Layer:  AI Pipeline  |  Auth  |  Sync  |  Business Logic</a:t>
            </a:r>
          </a:p>
          <a:p>
            <a:pPr>
              <a:spcAft>
                <a:spcPts val="600"/>
              </a:spcAft>
              <a:defRPr sz="1100">
                <a:solidFill>
                  <a:srgbClr val="9CA3AF"/>
                </a:solidFill>
                <a:latin typeface="Calibri"/>
              </a:defRPr>
            </a:pPr>
            <a:r>
              <a:t>Data Layer:  PostgreSQL (asyncpg)  |  Redis (Celery queues)</a:t>
            </a:r>
          </a:p>
          <a:p>
            <a:pPr>
              <a:spcAft>
                <a:spcPts val="600"/>
              </a:spcAft>
              <a:defRPr sz="1100">
                <a:solidFill>
                  <a:srgbClr val="9CA3AF"/>
                </a:solidFill>
                <a:latin typeface="Calibri"/>
              </a:defRPr>
            </a:pPr>
            <a:r>
              <a:t>Workers:  Celery tasks for sync, AI processing, notifications</a:t>
            </a:r>
          </a:p>
        </p:txBody>
      </p:sp>
      <p:sp>
        <p:nvSpPr>
          <p:cNvPr id="23" name="Rounded Rectangle 22"/>
          <p:cNvSpPr/>
          <p:nvPr/>
        </p:nvSpPr>
        <p:spPr>
          <a:xfrm>
            <a:off x="6035040" y="3474720"/>
            <a:ext cx="2926080" cy="2560320"/>
          </a:xfrm>
          <a:prstGeom prst="roundRect">
            <a:avLst>
              <a:gd name="adj" fmla="val 5000"/>
            </a:avLst>
          </a:prstGeom>
          <a:solidFill>
            <a:srgbClr val="151C30"/>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0" y="3566160"/>
            <a:ext cx="2560320" cy="365760"/>
          </a:xfrm>
          <a:prstGeom prst="rect">
            <a:avLst/>
          </a:prstGeom>
          <a:noFill/>
        </p:spPr>
        <p:txBody>
          <a:bodyPr wrap="square">
            <a:spAutoFit/>
          </a:bodyPr>
          <a:lstStyle/>
          <a:p>
            <a:pPr algn="l">
              <a:defRPr sz="1400" b="1">
                <a:solidFill>
                  <a:srgbClr val="34D399"/>
                </a:solidFill>
                <a:latin typeface="Calibri"/>
              </a:defRPr>
            </a:pPr>
            <a:r>
              <a:t>AI Pipeline (LangChain)</a:t>
            </a:r>
          </a:p>
        </p:txBody>
      </p:sp>
      <p:sp>
        <p:nvSpPr>
          <p:cNvPr id="25" name="TextBox 24"/>
          <p:cNvSpPr txBox="1"/>
          <p:nvPr/>
        </p:nvSpPr>
        <p:spPr>
          <a:xfrm>
            <a:off x="6217920" y="3977639"/>
            <a:ext cx="2560320" cy="1920240"/>
          </a:xfrm>
          <a:prstGeom prst="rect">
            <a:avLst/>
          </a:prstGeom>
          <a:noFill/>
        </p:spPr>
        <p:txBody>
          <a:bodyPr wrap="square">
            <a:spAutoFit/>
          </a:bodyPr>
          <a:lstStyle/>
          <a:p>
            <a:pPr>
              <a:spcAft>
                <a:spcPts val="600"/>
              </a:spcAft>
              <a:defRPr sz="1100">
                <a:solidFill>
                  <a:srgbClr val="9CA3AF"/>
                </a:solidFill>
                <a:latin typeface="Calibri"/>
              </a:defRPr>
            </a:pPr>
            <a:r>
              <a:t>1. Summarization</a:t>
            </a:r>
          </a:p>
          <a:p>
            <a:pPr>
              <a:spcAft>
                <a:spcPts val="600"/>
              </a:spcAft>
              <a:defRPr sz="1100">
                <a:solidFill>
                  <a:srgbClr val="9CA3AF"/>
                </a:solidFill>
                <a:latin typeface="Calibri"/>
              </a:defRPr>
            </a:pPr>
            <a:r>
              <a:t>2. Deadline Extraction</a:t>
            </a:r>
          </a:p>
          <a:p>
            <a:pPr>
              <a:spcAft>
                <a:spcPts val="600"/>
              </a:spcAft>
              <a:defRPr sz="1100">
                <a:solidFill>
                  <a:srgbClr val="9CA3AF"/>
                </a:solidFill>
                <a:latin typeface="Calibri"/>
              </a:defRPr>
            </a:pPr>
            <a:r>
              <a:t>3. Action Classification</a:t>
            </a:r>
          </a:p>
          <a:p>
            <a:pPr>
              <a:spcAft>
                <a:spcPts val="600"/>
              </a:spcAft>
              <a:defRPr sz="1100">
                <a:solidFill>
                  <a:srgbClr val="9CA3AF"/>
                </a:solidFill>
                <a:latin typeface="Calibri"/>
              </a:defRPr>
            </a:pPr>
            <a:r>
              <a:t>4. Priority Scoring (1-100)</a:t>
            </a:r>
          </a:p>
          <a:p>
            <a:pPr>
              <a:spcAft>
                <a:spcPts val="600"/>
              </a:spcAft>
              <a:defRPr sz="1100">
                <a:solidFill>
                  <a:srgbClr val="9CA3AF"/>
                </a:solidFill>
                <a:latin typeface="Calibri"/>
              </a:defRPr>
            </a:pPr>
            <a:r>
              <a:t>5. Categorization</a:t>
            </a:r>
          </a:p>
        </p:txBody>
      </p:sp>
      <p:sp>
        <p:nvSpPr>
          <p:cNvPr id="26" name="Rounded Rectangle 25"/>
          <p:cNvSpPr/>
          <p:nvPr/>
        </p:nvSpPr>
        <p:spPr>
          <a:xfrm>
            <a:off x="9326880" y="1554480"/>
            <a:ext cx="2560320" cy="4480560"/>
          </a:xfrm>
          <a:prstGeom prst="roundRect">
            <a:avLst>
              <a:gd name="adj" fmla="val 5000"/>
            </a:avLst>
          </a:prstGeom>
          <a:solidFill>
            <a:srgbClr val="151C30"/>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09760" y="1645920"/>
            <a:ext cx="2194560" cy="365760"/>
          </a:xfrm>
          <a:prstGeom prst="rect">
            <a:avLst/>
          </a:prstGeom>
          <a:noFill/>
        </p:spPr>
        <p:txBody>
          <a:bodyPr wrap="square">
            <a:spAutoFit/>
          </a:bodyPr>
          <a:lstStyle/>
          <a:p>
            <a:pPr algn="l">
              <a:defRPr sz="1400" b="1">
                <a:solidFill>
                  <a:srgbClr val="60A5FA"/>
                </a:solidFill>
                <a:latin typeface="Calibri"/>
              </a:defRPr>
            </a:pPr>
            <a:r>
              <a:t>Frontend (Next.js 14)</a:t>
            </a:r>
          </a:p>
        </p:txBody>
      </p:sp>
      <p:sp>
        <p:nvSpPr>
          <p:cNvPr id="28" name="TextBox 27"/>
          <p:cNvSpPr txBox="1"/>
          <p:nvPr/>
        </p:nvSpPr>
        <p:spPr>
          <a:xfrm>
            <a:off x="9509760" y="2057400"/>
            <a:ext cx="2194560" cy="3657600"/>
          </a:xfrm>
          <a:prstGeom prst="rect">
            <a:avLst/>
          </a:prstGeom>
          <a:noFill/>
        </p:spPr>
        <p:txBody>
          <a:bodyPr wrap="square">
            <a:spAutoFit/>
          </a:bodyPr>
          <a:lstStyle/>
          <a:p>
            <a:pPr>
              <a:spcAft>
                <a:spcPts val="600"/>
              </a:spcAft>
              <a:defRPr sz="1100">
                <a:solidFill>
                  <a:srgbClr val="9CA3AF"/>
                </a:solidFill>
                <a:latin typeface="Calibri"/>
              </a:defRPr>
            </a:pPr>
            <a:r>
              <a:t>App Router</a:t>
            </a:r>
          </a:p>
          <a:p>
            <a:pPr>
              <a:spcAft>
                <a:spcPts val="600"/>
              </a:spcAft>
              <a:defRPr sz="1100">
                <a:solidFill>
                  <a:srgbClr val="9CA3AF"/>
                </a:solidFill>
                <a:latin typeface="Calibri"/>
              </a:defRPr>
            </a:pPr>
            <a:r>
              <a:t>Tailwind CSS + shadcn/ui</a:t>
            </a:r>
          </a:p>
          <a:p>
            <a:pPr>
              <a:spcAft>
                <a:spcPts val="600"/>
              </a:spcAft>
              <a:defRPr sz="1100">
                <a:solidFill>
                  <a:srgbClr val="9CA3AF"/>
                </a:solidFill>
                <a:latin typeface="Calibri"/>
              </a:defRPr>
            </a:pPr>
            <a:r>
              <a:t>TanStack Query</a:t>
            </a:r>
          </a:p>
          <a:p>
            <a:pPr>
              <a:spcAft>
                <a:spcPts val="600"/>
              </a:spcAft>
              <a:defRPr sz="1100">
                <a:solidFill>
                  <a:srgbClr val="9CA3AF"/>
                </a:solidFill>
                <a:latin typeface="Calibri"/>
              </a:defRPr>
            </a:pPr>
            <a:r>
              <a:t>Dashboard</a:t>
            </a:r>
          </a:p>
          <a:p>
            <a:pPr>
              <a:spcAft>
                <a:spcPts val="600"/>
              </a:spcAft>
              <a:defRPr sz="1100">
                <a:solidFill>
                  <a:srgbClr val="9CA3AF"/>
                </a:solidFill>
                <a:latin typeface="Calibri"/>
              </a:defRPr>
            </a:pPr>
            <a:r>
              <a:t>Inbox + Upload</a:t>
            </a:r>
          </a:p>
          <a:p>
            <a:pPr>
              <a:spcAft>
                <a:spcPts val="600"/>
              </a:spcAft>
              <a:defRPr sz="1100">
                <a:solidFill>
                  <a:srgbClr val="9CA3AF"/>
                </a:solidFill>
                <a:latin typeface="Calibri"/>
              </a:defRPr>
            </a:pPr>
            <a:r>
              <a:t>Deadlines View</a:t>
            </a:r>
          </a:p>
          <a:p>
            <a:pPr>
              <a:spcAft>
                <a:spcPts val="600"/>
              </a:spcAft>
              <a:defRPr sz="1100">
                <a:solidFill>
                  <a:srgbClr val="9CA3AF"/>
                </a:solidFill>
                <a:latin typeface="Calibri"/>
              </a:defRPr>
            </a:pPr>
            <a:r>
              <a:t>Task Board</a:t>
            </a:r>
          </a:p>
          <a:p>
            <a:pPr>
              <a:spcAft>
                <a:spcPts val="600"/>
              </a:spcAft>
              <a:defRPr sz="1100">
                <a:solidFill>
                  <a:srgbClr val="9CA3AF"/>
                </a:solidFill>
                <a:latin typeface="Calibri"/>
              </a:defRPr>
            </a:pPr>
            <a:r>
              <a:t>AI Chat Sidebar</a:t>
            </a:r>
          </a:p>
          <a:p>
            <a:pPr>
              <a:spcAft>
                <a:spcPts val="600"/>
              </a:spcAft>
              <a:defRPr sz="1100">
                <a:solidFill>
                  <a:srgbClr val="9CA3AF"/>
                </a:solidFill>
                <a:latin typeface="Calibri"/>
              </a:defRPr>
            </a:pPr>
            <a:r>
              <a:t>Settings + OAuth</a:t>
            </a:r>
          </a:p>
        </p:txBody>
      </p:sp>
      <p:sp>
        <p:nvSpPr>
          <p:cNvPr id="29" name="TextBox 28"/>
          <p:cNvSpPr txBox="1"/>
          <p:nvPr/>
        </p:nvSpPr>
        <p:spPr>
          <a:xfrm>
            <a:off x="8778240" y="4114800"/>
            <a:ext cx="731520" cy="365760"/>
          </a:xfrm>
          <a:prstGeom prst="rect">
            <a:avLst/>
          </a:prstGeom>
          <a:noFill/>
        </p:spPr>
        <p:txBody>
          <a:bodyPr wrap="square">
            <a:spAutoFit/>
          </a:bodyPr>
          <a:lstStyle/>
          <a:p>
            <a:pPr algn="ctr">
              <a:defRPr sz="1400" b="0">
                <a:solidFill>
                  <a:srgbClr val="9CA3AF"/>
                </a:solidFill>
                <a:latin typeface="Calibri"/>
              </a:defRPr>
            </a:pPr>
            <a:r>
              <a:t>&lt; &gt;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622"/>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3200" b="1">
                <a:solidFill>
                  <a:srgbClr val="FFFFFF"/>
                </a:solidFill>
                <a:latin typeface="Calibri"/>
              </a:defRPr>
            </a:pPr>
            <a:r>
              <a:t>Data Flow &amp; AI Pipeline</a:t>
            </a:r>
          </a:p>
        </p:txBody>
      </p:sp>
      <p:sp>
        <p:nvSpPr>
          <p:cNvPr id="3" name="Rectangle 2"/>
          <p:cNvSpPr/>
          <p:nvPr/>
        </p:nvSpPr>
        <p:spPr>
          <a:xfrm>
            <a:off x="731520" y="914400"/>
            <a:ext cx="1828800" cy="36576"/>
          </a:xfrm>
          <a:prstGeom prst="rect">
            <a:avLst/>
          </a:prstGeom>
          <a:solidFill>
            <a:srgbClr val="0D5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371600"/>
            <a:ext cx="1828800" cy="201168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463040"/>
            <a:ext cx="1554480" cy="365760"/>
          </a:xfrm>
          <a:prstGeom prst="rect">
            <a:avLst/>
          </a:prstGeom>
          <a:noFill/>
        </p:spPr>
        <p:txBody>
          <a:bodyPr wrap="square">
            <a:spAutoFit/>
          </a:bodyPr>
          <a:lstStyle/>
          <a:p>
            <a:pPr algn="ctr">
              <a:defRPr sz="1500" b="1">
                <a:solidFill>
                  <a:srgbClr val="F87171"/>
                </a:solidFill>
                <a:latin typeface="Calibri"/>
              </a:defRPr>
            </a:pPr>
            <a:r>
              <a:t>1  Ingestion</a:t>
            </a:r>
          </a:p>
        </p:txBody>
      </p:sp>
      <p:sp>
        <p:nvSpPr>
          <p:cNvPr id="6" name="TextBox 5"/>
          <p:cNvSpPr txBox="1"/>
          <p:nvPr/>
        </p:nvSpPr>
        <p:spPr>
          <a:xfrm>
            <a:off x="594360" y="1920240"/>
            <a:ext cx="1554480" cy="1280160"/>
          </a:xfrm>
          <a:prstGeom prst="rect">
            <a:avLst/>
          </a:prstGeom>
          <a:noFill/>
        </p:spPr>
        <p:txBody>
          <a:bodyPr wrap="square">
            <a:spAutoFit/>
          </a:bodyPr>
          <a:lstStyle/>
          <a:p>
            <a:pPr algn="ctr">
              <a:defRPr sz="1100" b="0">
                <a:solidFill>
                  <a:srgbClr val="9CA3AF"/>
                </a:solidFill>
                <a:latin typeface="Calibri"/>
              </a:defRPr>
            </a:pPr>
            <a:r>
              <a:t>Gmail / Slack / Calendar /</a:t>
            </a:r>
            <a:br/>
            <a:r>
              <a:t>Zoom APIs or file upload</a:t>
            </a:r>
            <a:br/>
            <a:r>
              <a:t>fetch raw data</a:t>
            </a:r>
          </a:p>
        </p:txBody>
      </p:sp>
      <p:sp>
        <p:nvSpPr>
          <p:cNvPr id="7" name="Rounded Rectangle 6"/>
          <p:cNvSpPr/>
          <p:nvPr/>
        </p:nvSpPr>
        <p:spPr>
          <a:xfrm>
            <a:off x="2468880" y="1371600"/>
            <a:ext cx="1828800" cy="201168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06040" y="1463040"/>
            <a:ext cx="1554480" cy="365760"/>
          </a:xfrm>
          <a:prstGeom prst="rect">
            <a:avLst/>
          </a:prstGeom>
          <a:noFill/>
        </p:spPr>
        <p:txBody>
          <a:bodyPr wrap="square">
            <a:spAutoFit/>
          </a:bodyPr>
          <a:lstStyle/>
          <a:p>
            <a:pPr algn="ctr">
              <a:defRPr sz="1500" b="1">
                <a:solidFill>
                  <a:srgbClr val="FBBF24"/>
                </a:solidFill>
                <a:latin typeface="Calibri"/>
              </a:defRPr>
            </a:pPr>
            <a:r>
              <a:t>2  Normalize</a:t>
            </a:r>
          </a:p>
        </p:txBody>
      </p:sp>
      <p:sp>
        <p:nvSpPr>
          <p:cNvPr id="9" name="TextBox 8"/>
          <p:cNvSpPr txBox="1"/>
          <p:nvPr/>
        </p:nvSpPr>
        <p:spPr>
          <a:xfrm>
            <a:off x="2606040" y="1920240"/>
            <a:ext cx="1554480" cy="1280160"/>
          </a:xfrm>
          <a:prstGeom prst="rect">
            <a:avLst/>
          </a:prstGeom>
          <a:noFill/>
        </p:spPr>
        <p:txBody>
          <a:bodyPr wrap="square">
            <a:spAutoFit/>
          </a:bodyPr>
          <a:lstStyle/>
          <a:p>
            <a:pPr algn="ctr">
              <a:defRPr sz="1100" b="0">
                <a:solidFill>
                  <a:srgbClr val="9CA3AF"/>
                </a:solidFill>
                <a:latin typeface="Calibri"/>
              </a:defRPr>
            </a:pPr>
            <a:r>
              <a:t>Integration adapters parse</a:t>
            </a:r>
            <a:br/>
            <a:r>
              <a:t>raw data into unified</a:t>
            </a:r>
            <a:br/>
            <a:r>
              <a:t>Item records</a:t>
            </a:r>
          </a:p>
        </p:txBody>
      </p:sp>
      <p:sp>
        <p:nvSpPr>
          <p:cNvPr id="10" name="Rounded Rectangle 9"/>
          <p:cNvSpPr/>
          <p:nvPr/>
        </p:nvSpPr>
        <p:spPr>
          <a:xfrm>
            <a:off x="4480560" y="1371600"/>
            <a:ext cx="1828800" cy="201168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463040"/>
            <a:ext cx="1554480" cy="365760"/>
          </a:xfrm>
          <a:prstGeom prst="rect">
            <a:avLst/>
          </a:prstGeom>
          <a:noFill/>
        </p:spPr>
        <p:txBody>
          <a:bodyPr wrap="square">
            <a:spAutoFit/>
          </a:bodyPr>
          <a:lstStyle/>
          <a:p>
            <a:pPr algn="ctr">
              <a:defRPr sz="1500" b="1">
                <a:solidFill>
                  <a:srgbClr val="FFFFFF"/>
                </a:solidFill>
                <a:latin typeface="Calibri"/>
              </a:defRPr>
            </a:pPr>
            <a:r>
              <a:t>3  Store</a:t>
            </a:r>
          </a:p>
        </p:txBody>
      </p:sp>
      <p:sp>
        <p:nvSpPr>
          <p:cNvPr id="12" name="TextBox 11"/>
          <p:cNvSpPr txBox="1"/>
          <p:nvPr/>
        </p:nvSpPr>
        <p:spPr>
          <a:xfrm>
            <a:off x="4617720" y="1920240"/>
            <a:ext cx="1554480" cy="1280160"/>
          </a:xfrm>
          <a:prstGeom prst="rect">
            <a:avLst/>
          </a:prstGeom>
          <a:noFill/>
        </p:spPr>
        <p:txBody>
          <a:bodyPr wrap="square">
            <a:spAutoFit/>
          </a:bodyPr>
          <a:lstStyle/>
          <a:p>
            <a:pPr algn="ctr">
              <a:defRPr sz="1100" b="0">
                <a:solidFill>
                  <a:srgbClr val="9CA3AF"/>
                </a:solidFill>
                <a:latin typeface="Calibri"/>
              </a:defRPr>
            </a:pPr>
            <a:r>
              <a:t>Items persisted to</a:t>
            </a:r>
            <a:br/>
            <a:r>
              <a:t>PostgreSQL with full</a:t>
            </a:r>
            <a:br/>
            <a:r>
              <a:t>metadata &amp; relations</a:t>
            </a:r>
          </a:p>
        </p:txBody>
      </p:sp>
      <p:sp>
        <p:nvSpPr>
          <p:cNvPr id="13" name="Rounded Rectangle 12"/>
          <p:cNvSpPr/>
          <p:nvPr/>
        </p:nvSpPr>
        <p:spPr>
          <a:xfrm>
            <a:off x="6492240" y="1371600"/>
            <a:ext cx="1828800" cy="201168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1463040"/>
            <a:ext cx="1554480" cy="365760"/>
          </a:xfrm>
          <a:prstGeom prst="rect">
            <a:avLst/>
          </a:prstGeom>
          <a:noFill/>
        </p:spPr>
        <p:txBody>
          <a:bodyPr wrap="square">
            <a:spAutoFit/>
          </a:bodyPr>
          <a:lstStyle/>
          <a:p>
            <a:pPr algn="ctr">
              <a:defRPr sz="1500" b="1">
                <a:solidFill>
                  <a:srgbClr val="34D399"/>
                </a:solidFill>
                <a:latin typeface="Calibri"/>
              </a:defRPr>
            </a:pPr>
            <a:r>
              <a:t>4  AI Enrich</a:t>
            </a:r>
          </a:p>
        </p:txBody>
      </p:sp>
      <p:sp>
        <p:nvSpPr>
          <p:cNvPr id="15" name="TextBox 14"/>
          <p:cNvSpPr txBox="1"/>
          <p:nvPr/>
        </p:nvSpPr>
        <p:spPr>
          <a:xfrm>
            <a:off x="6629400" y="1920240"/>
            <a:ext cx="1554480" cy="1280160"/>
          </a:xfrm>
          <a:prstGeom prst="rect">
            <a:avLst/>
          </a:prstGeom>
          <a:noFill/>
        </p:spPr>
        <p:txBody>
          <a:bodyPr wrap="square">
            <a:spAutoFit/>
          </a:bodyPr>
          <a:lstStyle/>
          <a:p>
            <a:pPr algn="ctr">
              <a:defRPr sz="1100" b="0">
                <a:solidFill>
                  <a:srgbClr val="9CA3AF"/>
                </a:solidFill>
                <a:latin typeface="Calibri"/>
              </a:defRPr>
            </a:pPr>
            <a:r>
              <a:t>5-stage pipeline:</a:t>
            </a:r>
            <a:br/>
            <a:r>
              <a:t>Summarize, Deadlines,</a:t>
            </a:r>
            <a:br/>
            <a:r>
              <a:t>Actions, Priority, Category</a:t>
            </a:r>
          </a:p>
        </p:txBody>
      </p:sp>
      <p:sp>
        <p:nvSpPr>
          <p:cNvPr id="16" name="Rounded Rectangle 15"/>
          <p:cNvSpPr/>
          <p:nvPr/>
        </p:nvSpPr>
        <p:spPr>
          <a:xfrm>
            <a:off x="8503920" y="1371600"/>
            <a:ext cx="1828800" cy="201168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41080" y="1463040"/>
            <a:ext cx="1554480" cy="365760"/>
          </a:xfrm>
          <a:prstGeom prst="rect">
            <a:avLst/>
          </a:prstGeom>
          <a:noFill/>
        </p:spPr>
        <p:txBody>
          <a:bodyPr wrap="square">
            <a:spAutoFit/>
          </a:bodyPr>
          <a:lstStyle/>
          <a:p>
            <a:pPr algn="ctr">
              <a:defRPr sz="1500" b="1">
                <a:solidFill>
                  <a:srgbClr val="60A5FA"/>
                </a:solidFill>
                <a:latin typeface="Calibri"/>
              </a:defRPr>
            </a:pPr>
            <a:r>
              <a:t>5  Surface</a:t>
            </a:r>
          </a:p>
        </p:txBody>
      </p:sp>
      <p:sp>
        <p:nvSpPr>
          <p:cNvPr id="18" name="TextBox 17"/>
          <p:cNvSpPr txBox="1"/>
          <p:nvPr/>
        </p:nvSpPr>
        <p:spPr>
          <a:xfrm>
            <a:off x="8641080" y="1920240"/>
            <a:ext cx="1554480" cy="1280160"/>
          </a:xfrm>
          <a:prstGeom prst="rect">
            <a:avLst/>
          </a:prstGeom>
          <a:noFill/>
        </p:spPr>
        <p:txBody>
          <a:bodyPr wrap="square">
            <a:spAutoFit/>
          </a:bodyPr>
          <a:lstStyle/>
          <a:p>
            <a:pPr algn="ctr">
              <a:defRPr sz="1100" b="0">
                <a:solidFill>
                  <a:srgbClr val="9CA3AF"/>
                </a:solidFill>
                <a:latin typeface="Calibri"/>
              </a:defRPr>
            </a:pPr>
            <a:r>
              <a:t>Dashboard, Inbox feed,</a:t>
            </a:r>
            <a:br/>
            <a:r>
              <a:t>Deadline calendar, Task</a:t>
            </a:r>
            <a:br/>
            <a:r>
              <a:t>board, Chat, Briefings</a:t>
            </a:r>
          </a:p>
        </p:txBody>
      </p:sp>
      <p:sp>
        <p:nvSpPr>
          <p:cNvPr id="19" name="TextBox 18"/>
          <p:cNvSpPr txBox="1"/>
          <p:nvPr/>
        </p:nvSpPr>
        <p:spPr>
          <a:xfrm>
            <a:off x="2331720" y="2011680"/>
            <a:ext cx="274320" cy="365760"/>
          </a:xfrm>
          <a:prstGeom prst="rect">
            <a:avLst/>
          </a:prstGeom>
          <a:noFill/>
        </p:spPr>
        <p:txBody>
          <a:bodyPr wrap="square">
            <a:spAutoFit/>
          </a:bodyPr>
          <a:lstStyle/>
          <a:p>
            <a:pPr algn="l">
              <a:defRPr sz="2000" b="1">
                <a:solidFill>
                  <a:srgbClr val="0D59F2"/>
                </a:solidFill>
                <a:latin typeface="Calibri"/>
              </a:defRPr>
            </a:pPr>
            <a:r>
              <a:t>&gt;</a:t>
            </a:r>
          </a:p>
        </p:txBody>
      </p:sp>
      <p:sp>
        <p:nvSpPr>
          <p:cNvPr id="20" name="TextBox 19"/>
          <p:cNvSpPr txBox="1"/>
          <p:nvPr/>
        </p:nvSpPr>
        <p:spPr>
          <a:xfrm>
            <a:off x="4343400" y="2011680"/>
            <a:ext cx="274320" cy="365760"/>
          </a:xfrm>
          <a:prstGeom prst="rect">
            <a:avLst/>
          </a:prstGeom>
          <a:noFill/>
        </p:spPr>
        <p:txBody>
          <a:bodyPr wrap="square">
            <a:spAutoFit/>
          </a:bodyPr>
          <a:lstStyle/>
          <a:p>
            <a:pPr algn="l">
              <a:defRPr sz="2000" b="1">
                <a:solidFill>
                  <a:srgbClr val="0D59F2"/>
                </a:solidFill>
                <a:latin typeface="Calibri"/>
              </a:defRPr>
            </a:pPr>
            <a:r>
              <a:t>&gt;</a:t>
            </a:r>
          </a:p>
        </p:txBody>
      </p:sp>
      <p:sp>
        <p:nvSpPr>
          <p:cNvPr id="21" name="TextBox 20"/>
          <p:cNvSpPr txBox="1"/>
          <p:nvPr/>
        </p:nvSpPr>
        <p:spPr>
          <a:xfrm>
            <a:off x="6355080" y="2011680"/>
            <a:ext cx="274320" cy="365760"/>
          </a:xfrm>
          <a:prstGeom prst="rect">
            <a:avLst/>
          </a:prstGeom>
          <a:noFill/>
        </p:spPr>
        <p:txBody>
          <a:bodyPr wrap="square">
            <a:spAutoFit/>
          </a:bodyPr>
          <a:lstStyle/>
          <a:p>
            <a:pPr algn="l">
              <a:defRPr sz="2000" b="1">
                <a:solidFill>
                  <a:srgbClr val="0D59F2"/>
                </a:solidFill>
                <a:latin typeface="Calibri"/>
              </a:defRPr>
            </a:pPr>
            <a:r>
              <a:t>&gt;</a:t>
            </a:r>
          </a:p>
        </p:txBody>
      </p:sp>
      <p:sp>
        <p:nvSpPr>
          <p:cNvPr id="22" name="TextBox 21"/>
          <p:cNvSpPr txBox="1"/>
          <p:nvPr/>
        </p:nvSpPr>
        <p:spPr>
          <a:xfrm>
            <a:off x="8366760" y="2011680"/>
            <a:ext cx="274320" cy="365760"/>
          </a:xfrm>
          <a:prstGeom prst="rect">
            <a:avLst/>
          </a:prstGeom>
          <a:noFill/>
        </p:spPr>
        <p:txBody>
          <a:bodyPr wrap="square">
            <a:spAutoFit/>
          </a:bodyPr>
          <a:lstStyle/>
          <a:p>
            <a:pPr algn="l">
              <a:defRPr sz="2000" b="1">
                <a:solidFill>
                  <a:srgbClr val="0D59F2"/>
                </a:solidFill>
                <a:latin typeface="Calibri"/>
              </a:defRPr>
            </a:pPr>
            <a:r>
              <a:t>&gt;</a:t>
            </a:r>
          </a:p>
        </p:txBody>
      </p:sp>
      <p:sp>
        <p:nvSpPr>
          <p:cNvPr id="23" name="TextBox 22"/>
          <p:cNvSpPr txBox="1"/>
          <p:nvPr/>
        </p:nvSpPr>
        <p:spPr>
          <a:xfrm>
            <a:off x="731520" y="3840480"/>
            <a:ext cx="10058400" cy="457200"/>
          </a:xfrm>
          <a:prstGeom prst="rect">
            <a:avLst/>
          </a:prstGeom>
          <a:noFill/>
        </p:spPr>
        <p:txBody>
          <a:bodyPr wrap="square">
            <a:spAutoFit/>
          </a:bodyPr>
          <a:lstStyle/>
          <a:p>
            <a:pPr algn="l">
              <a:defRPr sz="1800" b="1">
                <a:solidFill>
                  <a:srgbClr val="FFFFFF"/>
                </a:solidFill>
                <a:latin typeface="Calibri"/>
              </a:defRPr>
            </a:pPr>
            <a:r>
              <a:t>AI Pipeline Detail</a:t>
            </a:r>
          </a:p>
        </p:txBody>
      </p:sp>
      <p:sp>
        <p:nvSpPr>
          <p:cNvPr id="24" name="Rounded Rectangle 23"/>
          <p:cNvSpPr/>
          <p:nvPr/>
        </p:nvSpPr>
        <p:spPr>
          <a:xfrm>
            <a:off x="457200" y="4297680"/>
            <a:ext cx="2011680" cy="146304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389120"/>
            <a:ext cx="1737360" cy="320040"/>
          </a:xfrm>
          <a:prstGeom prst="rect">
            <a:avLst/>
          </a:prstGeom>
          <a:noFill/>
        </p:spPr>
        <p:txBody>
          <a:bodyPr wrap="square">
            <a:spAutoFit/>
          </a:bodyPr>
          <a:lstStyle/>
          <a:p>
            <a:pPr algn="ctr">
              <a:defRPr sz="1300" b="1">
                <a:solidFill>
                  <a:srgbClr val="34D399"/>
                </a:solidFill>
                <a:latin typeface="Calibri"/>
              </a:defRPr>
            </a:pPr>
            <a:r>
              <a:t>Summarizer</a:t>
            </a:r>
          </a:p>
        </p:txBody>
      </p:sp>
      <p:sp>
        <p:nvSpPr>
          <p:cNvPr id="26" name="TextBox 25"/>
          <p:cNvSpPr txBox="1"/>
          <p:nvPr/>
        </p:nvSpPr>
        <p:spPr>
          <a:xfrm>
            <a:off x="594360" y="4754880"/>
            <a:ext cx="1737360" cy="914400"/>
          </a:xfrm>
          <a:prstGeom prst="rect">
            <a:avLst/>
          </a:prstGeom>
          <a:noFill/>
        </p:spPr>
        <p:txBody>
          <a:bodyPr wrap="square">
            <a:spAutoFit/>
          </a:bodyPr>
          <a:lstStyle/>
          <a:p>
            <a:pPr algn="ctr">
              <a:defRPr sz="1100" b="0">
                <a:solidFill>
                  <a:srgbClr val="9CA3AF"/>
                </a:solidFill>
                <a:latin typeface="Calibri"/>
              </a:defRPr>
            </a:pPr>
            <a:r>
              <a:t>1-2 sentence executive</a:t>
            </a:r>
            <a:br/>
            <a:r>
              <a:t>summary of each item</a:t>
            </a:r>
          </a:p>
        </p:txBody>
      </p:sp>
      <p:sp>
        <p:nvSpPr>
          <p:cNvPr id="27" name="Rounded Rectangle 26"/>
          <p:cNvSpPr/>
          <p:nvPr/>
        </p:nvSpPr>
        <p:spPr>
          <a:xfrm>
            <a:off x="2743200" y="4297680"/>
            <a:ext cx="2011680" cy="146304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80360" y="4389120"/>
            <a:ext cx="1737360" cy="320040"/>
          </a:xfrm>
          <a:prstGeom prst="rect">
            <a:avLst/>
          </a:prstGeom>
          <a:noFill/>
        </p:spPr>
        <p:txBody>
          <a:bodyPr wrap="square">
            <a:spAutoFit/>
          </a:bodyPr>
          <a:lstStyle/>
          <a:p>
            <a:pPr algn="ctr">
              <a:defRPr sz="1300" b="1">
                <a:solidFill>
                  <a:srgbClr val="FBBF24"/>
                </a:solidFill>
                <a:latin typeface="Calibri"/>
              </a:defRPr>
            </a:pPr>
            <a:r>
              <a:t>Deadline Extractor</a:t>
            </a:r>
          </a:p>
        </p:txBody>
      </p:sp>
      <p:sp>
        <p:nvSpPr>
          <p:cNvPr id="29" name="TextBox 28"/>
          <p:cNvSpPr txBox="1"/>
          <p:nvPr/>
        </p:nvSpPr>
        <p:spPr>
          <a:xfrm>
            <a:off x="2880360" y="4754880"/>
            <a:ext cx="1737360" cy="914400"/>
          </a:xfrm>
          <a:prstGeom prst="rect">
            <a:avLst/>
          </a:prstGeom>
          <a:noFill/>
        </p:spPr>
        <p:txBody>
          <a:bodyPr wrap="square">
            <a:spAutoFit/>
          </a:bodyPr>
          <a:lstStyle/>
          <a:p>
            <a:pPr algn="ctr">
              <a:defRPr sz="1100" b="0">
                <a:solidFill>
                  <a:srgbClr val="9CA3AF"/>
                </a:solidFill>
                <a:latin typeface="Calibri"/>
              </a:defRPr>
            </a:pPr>
            <a:r>
              <a:t>Parse dates with</a:t>
            </a:r>
            <a:br/>
            <a:r>
              <a:t>confidence scores</a:t>
            </a:r>
          </a:p>
        </p:txBody>
      </p:sp>
      <p:sp>
        <p:nvSpPr>
          <p:cNvPr id="30" name="Rounded Rectangle 29"/>
          <p:cNvSpPr/>
          <p:nvPr/>
        </p:nvSpPr>
        <p:spPr>
          <a:xfrm>
            <a:off x="5029200" y="4297680"/>
            <a:ext cx="2011680" cy="146304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66360" y="4389120"/>
            <a:ext cx="1737360" cy="320040"/>
          </a:xfrm>
          <a:prstGeom prst="rect">
            <a:avLst/>
          </a:prstGeom>
          <a:noFill/>
        </p:spPr>
        <p:txBody>
          <a:bodyPr wrap="square">
            <a:spAutoFit/>
          </a:bodyPr>
          <a:lstStyle/>
          <a:p>
            <a:pPr algn="ctr">
              <a:defRPr sz="1300" b="1">
                <a:solidFill>
                  <a:srgbClr val="F87171"/>
                </a:solidFill>
                <a:latin typeface="Calibri"/>
              </a:defRPr>
            </a:pPr>
            <a:r>
              <a:t>Action Classifier</a:t>
            </a:r>
          </a:p>
        </p:txBody>
      </p:sp>
      <p:sp>
        <p:nvSpPr>
          <p:cNvPr id="32" name="TextBox 31"/>
          <p:cNvSpPr txBox="1"/>
          <p:nvPr/>
        </p:nvSpPr>
        <p:spPr>
          <a:xfrm>
            <a:off x="5166360" y="4754880"/>
            <a:ext cx="1737360" cy="914400"/>
          </a:xfrm>
          <a:prstGeom prst="rect">
            <a:avLst/>
          </a:prstGeom>
          <a:noFill/>
        </p:spPr>
        <p:txBody>
          <a:bodyPr wrap="square">
            <a:spAutoFit/>
          </a:bodyPr>
          <a:lstStyle/>
          <a:p>
            <a:pPr algn="ctr">
              <a:defRPr sz="1100" b="0">
                <a:solidFill>
                  <a:srgbClr val="9CA3AF"/>
                </a:solidFill>
                <a:latin typeface="Calibri"/>
              </a:defRPr>
            </a:pPr>
            <a:r>
              <a:t>reply_needed, review_needed,</a:t>
            </a:r>
            <a:br/>
            <a:r>
              <a:t>meeting_request, fyi_only</a:t>
            </a:r>
          </a:p>
        </p:txBody>
      </p:sp>
      <p:sp>
        <p:nvSpPr>
          <p:cNvPr id="33" name="Rounded Rectangle 32"/>
          <p:cNvSpPr/>
          <p:nvPr/>
        </p:nvSpPr>
        <p:spPr>
          <a:xfrm>
            <a:off x="7315200" y="4297680"/>
            <a:ext cx="2011680" cy="146304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389120"/>
            <a:ext cx="1737360" cy="320040"/>
          </a:xfrm>
          <a:prstGeom prst="rect">
            <a:avLst/>
          </a:prstGeom>
          <a:noFill/>
        </p:spPr>
        <p:txBody>
          <a:bodyPr wrap="square">
            <a:spAutoFit/>
          </a:bodyPr>
          <a:lstStyle/>
          <a:p>
            <a:pPr algn="ctr">
              <a:defRPr sz="1300" b="1">
                <a:solidFill>
                  <a:srgbClr val="0D59F2"/>
                </a:solidFill>
                <a:latin typeface="Calibri"/>
              </a:defRPr>
            </a:pPr>
            <a:r>
              <a:t>Priority Scorer</a:t>
            </a:r>
          </a:p>
        </p:txBody>
      </p:sp>
      <p:sp>
        <p:nvSpPr>
          <p:cNvPr id="35" name="TextBox 34"/>
          <p:cNvSpPr txBox="1"/>
          <p:nvPr/>
        </p:nvSpPr>
        <p:spPr>
          <a:xfrm>
            <a:off x="7452360" y="4754880"/>
            <a:ext cx="1737360" cy="914400"/>
          </a:xfrm>
          <a:prstGeom prst="rect">
            <a:avLst/>
          </a:prstGeom>
          <a:noFill/>
        </p:spPr>
        <p:txBody>
          <a:bodyPr wrap="square">
            <a:spAutoFit/>
          </a:bodyPr>
          <a:lstStyle/>
          <a:p>
            <a:pPr algn="ctr">
              <a:defRPr sz="1100" b="0">
                <a:solidFill>
                  <a:srgbClr val="9CA3AF"/>
                </a:solidFill>
                <a:latin typeface="Calibri"/>
              </a:defRPr>
            </a:pPr>
            <a:r>
              <a:t>Score 1-100 based on</a:t>
            </a:r>
            <a:br/>
            <a:r>
              <a:t>sender, urgency, content</a:t>
            </a:r>
          </a:p>
        </p:txBody>
      </p:sp>
      <p:sp>
        <p:nvSpPr>
          <p:cNvPr id="36" name="Rounded Rectangle 35"/>
          <p:cNvSpPr/>
          <p:nvPr/>
        </p:nvSpPr>
        <p:spPr>
          <a:xfrm>
            <a:off x="9601200" y="4297680"/>
            <a:ext cx="2011680" cy="146304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38360" y="4389120"/>
            <a:ext cx="1737360" cy="320040"/>
          </a:xfrm>
          <a:prstGeom prst="rect">
            <a:avLst/>
          </a:prstGeom>
          <a:noFill/>
        </p:spPr>
        <p:txBody>
          <a:bodyPr wrap="square">
            <a:spAutoFit/>
          </a:bodyPr>
          <a:lstStyle/>
          <a:p>
            <a:pPr algn="ctr">
              <a:defRPr sz="1300" b="1">
                <a:solidFill>
                  <a:srgbClr val="60A5FA"/>
                </a:solidFill>
                <a:latin typeface="Calibri"/>
              </a:defRPr>
            </a:pPr>
            <a:r>
              <a:t>Categorizer</a:t>
            </a:r>
          </a:p>
        </p:txBody>
      </p:sp>
      <p:sp>
        <p:nvSpPr>
          <p:cNvPr id="38" name="TextBox 37"/>
          <p:cNvSpPr txBox="1"/>
          <p:nvPr/>
        </p:nvSpPr>
        <p:spPr>
          <a:xfrm>
            <a:off x="9738360" y="4754880"/>
            <a:ext cx="1737360" cy="914400"/>
          </a:xfrm>
          <a:prstGeom prst="rect">
            <a:avLst/>
          </a:prstGeom>
          <a:noFill/>
        </p:spPr>
        <p:txBody>
          <a:bodyPr wrap="square">
            <a:spAutoFit/>
          </a:bodyPr>
          <a:lstStyle/>
          <a:p>
            <a:pPr algn="ctr">
              <a:defRPr sz="1100" b="0">
                <a:solidFill>
                  <a:srgbClr val="9CA3AF"/>
                </a:solidFill>
                <a:latin typeface="Calibri"/>
              </a:defRPr>
            </a:pPr>
            <a:r>
              <a:t>work, school, personal,</a:t>
            </a:r>
            <a:br/>
            <a:r>
              <a:t>promotional, social, finance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622"/>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3200" b="1">
                <a:solidFill>
                  <a:srgbClr val="FFFFFF"/>
                </a:solidFill>
                <a:latin typeface="Calibri"/>
              </a:defRPr>
            </a:pPr>
            <a:r>
              <a:t>Database Schema</a:t>
            </a:r>
          </a:p>
        </p:txBody>
      </p:sp>
      <p:sp>
        <p:nvSpPr>
          <p:cNvPr id="3" name="Rectangle 2"/>
          <p:cNvSpPr/>
          <p:nvPr/>
        </p:nvSpPr>
        <p:spPr>
          <a:xfrm>
            <a:off x="731520" y="914400"/>
            <a:ext cx="1828800" cy="36576"/>
          </a:xfrm>
          <a:prstGeom prst="rect">
            <a:avLst/>
          </a:prstGeom>
          <a:solidFill>
            <a:srgbClr val="0D5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188720"/>
            <a:ext cx="2651760" cy="201168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2286000" cy="320040"/>
          </a:xfrm>
          <a:prstGeom prst="rect">
            <a:avLst/>
          </a:prstGeom>
          <a:noFill/>
        </p:spPr>
        <p:txBody>
          <a:bodyPr wrap="square">
            <a:spAutoFit/>
          </a:bodyPr>
          <a:lstStyle/>
          <a:p>
            <a:pPr algn="l">
              <a:defRPr sz="1500" b="1">
                <a:solidFill>
                  <a:srgbClr val="0D59F2"/>
                </a:solidFill>
                <a:latin typeface="Calibri"/>
              </a:defRPr>
            </a:pPr>
            <a:r>
              <a:t>users</a:t>
            </a:r>
          </a:p>
        </p:txBody>
      </p:sp>
      <p:sp>
        <p:nvSpPr>
          <p:cNvPr id="6" name="TextBox 5"/>
          <p:cNvSpPr txBox="1"/>
          <p:nvPr/>
        </p:nvSpPr>
        <p:spPr>
          <a:xfrm>
            <a:off x="640080" y="1645920"/>
            <a:ext cx="2286000" cy="1463040"/>
          </a:xfrm>
          <a:prstGeom prst="rect">
            <a:avLst/>
          </a:prstGeom>
          <a:noFill/>
        </p:spPr>
        <p:txBody>
          <a:bodyPr wrap="square">
            <a:spAutoFit/>
          </a:bodyPr>
          <a:lstStyle/>
          <a:p>
            <a:pPr>
              <a:spcAft>
                <a:spcPts val="600"/>
              </a:spcAft>
              <a:defRPr sz="1000">
                <a:solidFill>
                  <a:srgbClr val="9CA3AF"/>
                </a:solidFill>
                <a:latin typeface="Calibri"/>
              </a:defRPr>
            </a:pPr>
            <a:r>
              <a:t>id (UUID PK)</a:t>
            </a:r>
          </a:p>
          <a:p>
            <a:pPr>
              <a:spcAft>
                <a:spcPts val="600"/>
              </a:spcAft>
              <a:defRPr sz="1000">
                <a:solidFill>
                  <a:srgbClr val="9CA3AF"/>
                </a:solidFill>
                <a:latin typeface="Calibri"/>
              </a:defRPr>
            </a:pPr>
            <a:r>
              <a:t>email, name, timezone</a:t>
            </a:r>
          </a:p>
          <a:p>
            <a:pPr>
              <a:spcAft>
                <a:spcPts val="600"/>
              </a:spcAft>
              <a:defRPr sz="1000">
                <a:solidFill>
                  <a:srgbClr val="9CA3AF"/>
                </a:solidFill>
                <a:latin typeface="Calibri"/>
              </a:defRPr>
            </a:pPr>
            <a:r>
              <a:t>settings (JSON)</a:t>
            </a:r>
          </a:p>
          <a:p>
            <a:pPr>
              <a:spcAft>
                <a:spcPts val="600"/>
              </a:spcAft>
              <a:defRPr sz="1000">
                <a:solidFill>
                  <a:srgbClr val="9CA3AF"/>
                </a:solidFill>
                <a:latin typeface="Calibri"/>
              </a:defRPr>
            </a:pPr>
            <a:r>
              <a:t>created_at</a:t>
            </a:r>
          </a:p>
        </p:txBody>
      </p:sp>
      <p:sp>
        <p:nvSpPr>
          <p:cNvPr id="7" name="Rounded Rectangle 6"/>
          <p:cNvSpPr/>
          <p:nvPr/>
        </p:nvSpPr>
        <p:spPr>
          <a:xfrm>
            <a:off x="3337560" y="1188720"/>
            <a:ext cx="2651760" cy="201168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20440" y="1280160"/>
            <a:ext cx="2286000" cy="320040"/>
          </a:xfrm>
          <a:prstGeom prst="rect">
            <a:avLst/>
          </a:prstGeom>
          <a:noFill/>
        </p:spPr>
        <p:txBody>
          <a:bodyPr wrap="square">
            <a:spAutoFit/>
          </a:bodyPr>
          <a:lstStyle/>
          <a:p>
            <a:pPr algn="l">
              <a:defRPr sz="1500" b="1">
                <a:solidFill>
                  <a:srgbClr val="60A5FA"/>
                </a:solidFill>
                <a:latin typeface="Calibri"/>
              </a:defRPr>
            </a:pPr>
            <a:r>
              <a:t>connections</a:t>
            </a:r>
          </a:p>
        </p:txBody>
      </p:sp>
      <p:sp>
        <p:nvSpPr>
          <p:cNvPr id="9" name="TextBox 8"/>
          <p:cNvSpPr txBox="1"/>
          <p:nvPr/>
        </p:nvSpPr>
        <p:spPr>
          <a:xfrm>
            <a:off x="3520440" y="1645920"/>
            <a:ext cx="2286000" cy="1463040"/>
          </a:xfrm>
          <a:prstGeom prst="rect">
            <a:avLst/>
          </a:prstGeom>
          <a:noFill/>
        </p:spPr>
        <p:txBody>
          <a:bodyPr wrap="square">
            <a:spAutoFit/>
          </a:bodyPr>
          <a:lstStyle/>
          <a:p>
            <a:pPr>
              <a:spcAft>
                <a:spcPts val="600"/>
              </a:spcAft>
              <a:defRPr sz="1000">
                <a:solidFill>
                  <a:srgbClr val="9CA3AF"/>
                </a:solidFill>
                <a:latin typeface="Calibri"/>
              </a:defRPr>
            </a:pPr>
            <a:r>
              <a:t>id (UUID PK)</a:t>
            </a:r>
          </a:p>
          <a:p>
            <a:pPr>
              <a:spcAft>
                <a:spcPts val="600"/>
              </a:spcAft>
              <a:defRPr sz="1000">
                <a:solidFill>
                  <a:srgbClr val="9CA3AF"/>
                </a:solidFill>
                <a:latin typeface="Calibri"/>
              </a:defRPr>
            </a:pPr>
            <a:r>
              <a:t>user_id (FK)</a:t>
            </a:r>
          </a:p>
          <a:p>
            <a:pPr>
              <a:spcAft>
                <a:spcPts val="600"/>
              </a:spcAft>
              <a:defRPr sz="1000">
                <a:solidFill>
                  <a:srgbClr val="9CA3AF"/>
                </a:solidFill>
                <a:latin typeface="Calibri"/>
              </a:defRPr>
            </a:pPr>
            <a:r>
              <a:t>platform (enum)</a:t>
            </a:r>
          </a:p>
          <a:p>
            <a:pPr>
              <a:spcAft>
                <a:spcPts val="600"/>
              </a:spcAft>
              <a:defRPr sz="1000">
                <a:solidFill>
                  <a:srgbClr val="9CA3AF"/>
                </a:solidFill>
                <a:latin typeface="Calibri"/>
              </a:defRPr>
            </a:pPr>
            <a:r>
              <a:t>access_token, refresh_token</a:t>
            </a:r>
          </a:p>
          <a:p>
            <a:pPr>
              <a:spcAft>
                <a:spcPts val="600"/>
              </a:spcAft>
              <a:defRPr sz="1000">
                <a:solidFill>
                  <a:srgbClr val="9CA3AF"/>
                </a:solidFill>
                <a:latin typeface="Calibri"/>
              </a:defRPr>
            </a:pPr>
            <a:r>
              <a:t>status, external_email</a:t>
            </a:r>
          </a:p>
        </p:txBody>
      </p:sp>
      <p:sp>
        <p:nvSpPr>
          <p:cNvPr id="10" name="Rounded Rectangle 9"/>
          <p:cNvSpPr/>
          <p:nvPr/>
        </p:nvSpPr>
        <p:spPr>
          <a:xfrm>
            <a:off x="6217920" y="1188720"/>
            <a:ext cx="2651760" cy="256032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280160"/>
            <a:ext cx="2286000" cy="320040"/>
          </a:xfrm>
          <a:prstGeom prst="rect">
            <a:avLst/>
          </a:prstGeom>
          <a:noFill/>
        </p:spPr>
        <p:txBody>
          <a:bodyPr wrap="square">
            <a:spAutoFit/>
          </a:bodyPr>
          <a:lstStyle/>
          <a:p>
            <a:pPr algn="l">
              <a:defRPr sz="1500" b="1">
                <a:solidFill>
                  <a:srgbClr val="34D399"/>
                </a:solidFill>
                <a:latin typeface="Calibri"/>
              </a:defRPr>
            </a:pPr>
            <a:r>
              <a:t>items</a:t>
            </a:r>
          </a:p>
        </p:txBody>
      </p:sp>
      <p:sp>
        <p:nvSpPr>
          <p:cNvPr id="12" name="TextBox 11"/>
          <p:cNvSpPr txBox="1"/>
          <p:nvPr/>
        </p:nvSpPr>
        <p:spPr>
          <a:xfrm>
            <a:off x="6400800" y="1645920"/>
            <a:ext cx="2286000" cy="2011680"/>
          </a:xfrm>
          <a:prstGeom prst="rect">
            <a:avLst/>
          </a:prstGeom>
          <a:noFill/>
        </p:spPr>
        <p:txBody>
          <a:bodyPr wrap="square">
            <a:spAutoFit/>
          </a:bodyPr>
          <a:lstStyle/>
          <a:p>
            <a:pPr>
              <a:spcAft>
                <a:spcPts val="600"/>
              </a:spcAft>
              <a:defRPr sz="1000">
                <a:solidFill>
                  <a:srgbClr val="9CA3AF"/>
                </a:solidFill>
                <a:latin typeface="Calibri"/>
              </a:defRPr>
            </a:pPr>
            <a:r>
              <a:t>id (UUID PK)</a:t>
            </a:r>
          </a:p>
          <a:p>
            <a:pPr>
              <a:spcAft>
                <a:spcPts val="600"/>
              </a:spcAft>
              <a:defRPr sz="1000">
                <a:solidFill>
                  <a:srgbClr val="9CA3AF"/>
                </a:solidFill>
                <a:latin typeface="Calibri"/>
              </a:defRPr>
            </a:pPr>
            <a:r>
              <a:t>user_id (FK), platform</a:t>
            </a:r>
          </a:p>
          <a:p>
            <a:pPr>
              <a:spcAft>
                <a:spcPts val="600"/>
              </a:spcAft>
              <a:defRPr sz="1000">
                <a:solidFill>
                  <a:srgbClr val="9CA3AF"/>
                </a:solidFill>
                <a:latin typeface="Calibri"/>
              </a:defRPr>
            </a:pPr>
            <a:r>
              <a:t>item_type, external_id</a:t>
            </a:r>
          </a:p>
          <a:p>
            <a:pPr>
              <a:spcAft>
                <a:spcPts val="600"/>
              </a:spcAft>
              <a:defRPr sz="1000">
                <a:solidFill>
                  <a:srgbClr val="9CA3AF"/>
                </a:solidFill>
                <a:latin typeface="Calibri"/>
              </a:defRPr>
            </a:pPr>
            <a:r>
              <a:t>subject, body, sender_*</a:t>
            </a:r>
          </a:p>
          <a:p>
            <a:pPr>
              <a:spcAft>
                <a:spcPts val="600"/>
              </a:spcAft>
              <a:defRPr sz="1000">
                <a:solidFill>
                  <a:srgbClr val="9CA3AF"/>
                </a:solidFill>
                <a:latin typeface="Calibri"/>
              </a:defRPr>
            </a:pPr>
            <a:r>
              <a:t>ai_summary, priority_score</a:t>
            </a:r>
          </a:p>
          <a:p>
            <a:pPr>
              <a:spcAft>
                <a:spcPts val="600"/>
              </a:spcAft>
              <a:defRPr sz="1000">
                <a:solidFill>
                  <a:srgbClr val="9CA3AF"/>
                </a:solidFill>
                <a:latin typeface="Calibri"/>
              </a:defRPr>
            </a:pPr>
            <a:r>
              <a:t>action_type, category</a:t>
            </a:r>
          </a:p>
          <a:p>
            <a:pPr>
              <a:spcAft>
                <a:spcPts val="600"/>
              </a:spcAft>
              <a:defRPr sz="1000">
                <a:solidFill>
                  <a:srgbClr val="9CA3AF"/>
                </a:solidFill>
                <a:latin typeface="Calibri"/>
              </a:defRPr>
            </a:pPr>
            <a:r>
              <a:t>is_read, is_archived</a:t>
            </a:r>
          </a:p>
        </p:txBody>
      </p:sp>
      <p:sp>
        <p:nvSpPr>
          <p:cNvPr id="13" name="Rounded Rectangle 12"/>
          <p:cNvSpPr/>
          <p:nvPr/>
        </p:nvSpPr>
        <p:spPr>
          <a:xfrm>
            <a:off x="9098280" y="1188720"/>
            <a:ext cx="2651760" cy="201168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1160" y="1280160"/>
            <a:ext cx="2286000" cy="320040"/>
          </a:xfrm>
          <a:prstGeom prst="rect">
            <a:avLst/>
          </a:prstGeom>
          <a:noFill/>
        </p:spPr>
        <p:txBody>
          <a:bodyPr wrap="square">
            <a:spAutoFit/>
          </a:bodyPr>
          <a:lstStyle/>
          <a:p>
            <a:pPr algn="l">
              <a:defRPr sz="1500" b="1">
                <a:solidFill>
                  <a:srgbClr val="FBBF24"/>
                </a:solidFill>
                <a:latin typeface="Calibri"/>
              </a:defRPr>
            </a:pPr>
            <a:r>
              <a:t>deadlines</a:t>
            </a:r>
          </a:p>
        </p:txBody>
      </p:sp>
      <p:sp>
        <p:nvSpPr>
          <p:cNvPr id="15" name="TextBox 14"/>
          <p:cNvSpPr txBox="1"/>
          <p:nvPr/>
        </p:nvSpPr>
        <p:spPr>
          <a:xfrm>
            <a:off x="9281160" y="1645920"/>
            <a:ext cx="2286000" cy="1463040"/>
          </a:xfrm>
          <a:prstGeom prst="rect">
            <a:avLst/>
          </a:prstGeom>
          <a:noFill/>
        </p:spPr>
        <p:txBody>
          <a:bodyPr wrap="square">
            <a:spAutoFit/>
          </a:bodyPr>
          <a:lstStyle/>
          <a:p>
            <a:pPr>
              <a:spcAft>
                <a:spcPts val="600"/>
              </a:spcAft>
              <a:defRPr sz="1000">
                <a:solidFill>
                  <a:srgbClr val="9CA3AF"/>
                </a:solidFill>
                <a:latin typeface="Calibri"/>
              </a:defRPr>
            </a:pPr>
            <a:r>
              <a:t>id (UUID PK)</a:t>
            </a:r>
          </a:p>
          <a:p>
            <a:pPr>
              <a:spcAft>
                <a:spcPts val="600"/>
              </a:spcAft>
              <a:defRPr sz="1000">
                <a:solidFill>
                  <a:srgbClr val="9CA3AF"/>
                </a:solidFill>
                <a:latin typeface="Calibri"/>
              </a:defRPr>
            </a:pPr>
            <a:r>
              <a:t>item_id (FK)</a:t>
            </a:r>
          </a:p>
          <a:p>
            <a:pPr>
              <a:spcAft>
                <a:spcPts val="600"/>
              </a:spcAft>
              <a:defRPr sz="1000">
                <a:solidFill>
                  <a:srgbClr val="9CA3AF"/>
                </a:solidFill>
                <a:latin typeface="Calibri"/>
              </a:defRPr>
            </a:pPr>
            <a:r>
              <a:t>title, due_at</a:t>
            </a:r>
          </a:p>
          <a:p>
            <a:pPr>
              <a:spcAft>
                <a:spcPts val="600"/>
              </a:spcAft>
              <a:defRPr sz="1000">
                <a:solidFill>
                  <a:srgbClr val="9CA3AF"/>
                </a:solidFill>
                <a:latin typeface="Calibri"/>
              </a:defRPr>
            </a:pPr>
            <a:r>
              <a:t>confidence, status</a:t>
            </a:r>
          </a:p>
          <a:p>
            <a:pPr>
              <a:spcAft>
                <a:spcPts val="600"/>
              </a:spcAft>
              <a:defRPr sz="1000">
                <a:solidFill>
                  <a:srgbClr val="9CA3AF"/>
                </a:solidFill>
                <a:latin typeface="Calibri"/>
              </a:defRPr>
            </a:pPr>
            <a:r>
              <a:t>source_text</a:t>
            </a:r>
          </a:p>
        </p:txBody>
      </p:sp>
      <p:sp>
        <p:nvSpPr>
          <p:cNvPr id="16" name="Rounded Rectangle 15"/>
          <p:cNvSpPr/>
          <p:nvPr/>
        </p:nvSpPr>
        <p:spPr>
          <a:xfrm>
            <a:off x="457200" y="4023360"/>
            <a:ext cx="2651760" cy="201168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114800"/>
            <a:ext cx="2286000" cy="320040"/>
          </a:xfrm>
          <a:prstGeom prst="rect">
            <a:avLst/>
          </a:prstGeom>
          <a:noFill/>
        </p:spPr>
        <p:txBody>
          <a:bodyPr wrap="square">
            <a:spAutoFit/>
          </a:bodyPr>
          <a:lstStyle/>
          <a:p>
            <a:pPr algn="l">
              <a:defRPr sz="1500" b="1">
                <a:solidFill>
                  <a:srgbClr val="F87171"/>
                </a:solidFill>
                <a:latin typeface="Calibri"/>
              </a:defRPr>
            </a:pPr>
            <a:r>
              <a:t>tasks</a:t>
            </a:r>
          </a:p>
        </p:txBody>
      </p:sp>
      <p:sp>
        <p:nvSpPr>
          <p:cNvPr id="18" name="TextBox 17"/>
          <p:cNvSpPr txBox="1"/>
          <p:nvPr/>
        </p:nvSpPr>
        <p:spPr>
          <a:xfrm>
            <a:off x="640080" y="4480560"/>
            <a:ext cx="2286000" cy="1463040"/>
          </a:xfrm>
          <a:prstGeom prst="rect">
            <a:avLst/>
          </a:prstGeom>
          <a:noFill/>
        </p:spPr>
        <p:txBody>
          <a:bodyPr wrap="square">
            <a:spAutoFit/>
          </a:bodyPr>
          <a:lstStyle/>
          <a:p>
            <a:pPr>
              <a:spcAft>
                <a:spcPts val="600"/>
              </a:spcAft>
              <a:defRPr sz="1000">
                <a:solidFill>
                  <a:srgbClr val="9CA3AF"/>
                </a:solidFill>
                <a:latin typeface="Calibri"/>
              </a:defRPr>
            </a:pPr>
            <a:r>
              <a:t>id (UUID PK)</a:t>
            </a:r>
          </a:p>
          <a:p>
            <a:pPr>
              <a:spcAft>
                <a:spcPts val="600"/>
              </a:spcAft>
              <a:defRPr sz="1000">
                <a:solidFill>
                  <a:srgbClr val="9CA3AF"/>
                </a:solidFill>
                <a:latin typeface="Calibri"/>
              </a:defRPr>
            </a:pPr>
            <a:r>
              <a:t>item_id (FK), deadline_id</a:t>
            </a:r>
          </a:p>
          <a:p>
            <a:pPr>
              <a:spcAft>
                <a:spcPts val="600"/>
              </a:spcAft>
              <a:defRPr sz="1000">
                <a:solidFill>
                  <a:srgbClr val="9CA3AF"/>
                </a:solidFill>
                <a:latin typeface="Calibri"/>
              </a:defRPr>
            </a:pPr>
            <a:r>
              <a:t>title, status, priority</a:t>
            </a:r>
          </a:p>
          <a:p>
            <a:pPr>
              <a:spcAft>
                <a:spcPts val="600"/>
              </a:spcAft>
              <a:defRPr sz="1000">
                <a:solidFill>
                  <a:srgbClr val="9CA3AF"/>
                </a:solidFill>
                <a:latin typeface="Calibri"/>
              </a:defRPr>
            </a:pPr>
            <a:r>
              <a:t>due_at, ai_generated</a:t>
            </a:r>
          </a:p>
          <a:p>
            <a:pPr>
              <a:spcAft>
                <a:spcPts val="600"/>
              </a:spcAft>
              <a:defRPr sz="1000">
                <a:solidFill>
                  <a:srgbClr val="9CA3AF"/>
                </a:solidFill>
                <a:latin typeface="Calibri"/>
              </a:defRPr>
            </a:pPr>
            <a:r>
              <a:t>position</a:t>
            </a:r>
          </a:p>
        </p:txBody>
      </p:sp>
      <p:sp>
        <p:nvSpPr>
          <p:cNvPr id="19" name="Rounded Rectangle 18"/>
          <p:cNvSpPr/>
          <p:nvPr/>
        </p:nvSpPr>
        <p:spPr>
          <a:xfrm>
            <a:off x="3337560" y="4023360"/>
            <a:ext cx="2651760" cy="201168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20440" y="4114800"/>
            <a:ext cx="2286000" cy="320040"/>
          </a:xfrm>
          <a:prstGeom prst="rect">
            <a:avLst/>
          </a:prstGeom>
          <a:noFill/>
        </p:spPr>
        <p:txBody>
          <a:bodyPr wrap="square">
            <a:spAutoFit/>
          </a:bodyPr>
          <a:lstStyle/>
          <a:p>
            <a:pPr algn="l">
              <a:defRPr sz="1500" b="1">
                <a:solidFill>
                  <a:srgbClr val="9CA3AF"/>
                </a:solidFill>
                <a:latin typeface="Calibri"/>
              </a:defRPr>
            </a:pPr>
            <a:r>
              <a:t>briefings</a:t>
            </a:r>
          </a:p>
        </p:txBody>
      </p:sp>
      <p:sp>
        <p:nvSpPr>
          <p:cNvPr id="21" name="TextBox 20"/>
          <p:cNvSpPr txBox="1"/>
          <p:nvPr/>
        </p:nvSpPr>
        <p:spPr>
          <a:xfrm>
            <a:off x="3520440" y="4480560"/>
            <a:ext cx="2286000" cy="1463040"/>
          </a:xfrm>
          <a:prstGeom prst="rect">
            <a:avLst/>
          </a:prstGeom>
          <a:noFill/>
        </p:spPr>
        <p:txBody>
          <a:bodyPr wrap="square">
            <a:spAutoFit/>
          </a:bodyPr>
          <a:lstStyle/>
          <a:p>
            <a:pPr>
              <a:spcAft>
                <a:spcPts val="600"/>
              </a:spcAft>
              <a:defRPr sz="1000">
                <a:solidFill>
                  <a:srgbClr val="9CA3AF"/>
                </a:solidFill>
                <a:latin typeface="Calibri"/>
              </a:defRPr>
            </a:pPr>
            <a:r>
              <a:t>id (UUID PK)</a:t>
            </a:r>
          </a:p>
          <a:p>
            <a:pPr>
              <a:spcAft>
                <a:spcPts val="600"/>
              </a:spcAft>
              <a:defRPr sz="1000">
                <a:solidFill>
                  <a:srgbClr val="9CA3AF"/>
                </a:solidFill>
                <a:latin typeface="Calibri"/>
              </a:defRPr>
            </a:pPr>
            <a:r>
              <a:t>user_id (FK)</a:t>
            </a:r>
          </a:p>
          <a:p>
            <a:pPr>
              <a:spcAft>
                <a:spcPts val="600"/>
              </a:spcAft>
              <a:defRPr sz="1000">
                <a:solidFill>
                  <a:srgbClr val="9CA3AF"/>
                </a:solidFill>
                <a:latin typeface="Calibri"/>
              </a:defRPr>
            </a:pPr>
            <a:r>
              <a:t>briefing_date</a:t>
            </a:r>
          </a:p>
          <a:p>
            <a:pPr>
              <a:spcAft>
                <a:spcPts val="600"/>
              </a:spcAft>
              <a:defRPr sz="1000">
                <a:solidFill>
                  <a:srgbClr val="9CA3AF"/>
                </a:solidFill>
                <a:latin typeface="Calibri"/>
              </a:defRPr>
            </a:pPr>
            <a:r>
              <a:t>content, data_snapshot</a:t>
            </a:r>
          </a:p>
        </p:txBody>
      </p:sp>
      <p:sp>
        <p:nvSpPr>
          <p:cNvPr id="22" name="Rounded Rectangle 21"/>
          <p:cNvSpPr/>
          <p:nvPr/>
        </p:nvSpPr>
        <p:spPr>
          <a:xfrm>
            <a:off x="6217920" y="4023360"/>
            <a:ext cx="2651760" cy="201168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4114800"/>
            <a:ext cx="2286000" cy="320040"/>
          </a:xfrm>
          <a:prstGeom prst="rect">
            <a:avLst/>
          </a:prstGeom>
          <a:noFill/>
        </p:spPr>
        <p:txBody>
          <a:bodyPr wrap="square">
            <a:spAutoFit/>
          </a:bodyPr>
          <a:lstStyle/>
          <a:p>
            <a:pPr algn="l">
              <a:defRPr sz="1500" b="1">
                <a:solidFill>
                  <a:srgbClr val="FFFFFF"/>
                </a:solidFill>
                <a:latin typeface="Calibri"/>
              </a:defRPr>
            </a:pPr>
            <a:r>
              <a:t>sync_state</a:t>
            </a:r>
          </a:p>
        </p:txBody>
      </p:sp>
      <p:sp>
        <p:nvSpPr>
          <p:cNvPr id="24" name="TextBox 23"/>
          <p:cNvSpPr txBox="1"/>
          <p:nvPr/>
        </p:nvSpPr>
        <p:spPr>
          <a:xfrm>
            <a:off x="6400800" y="4480560"/>
            <a:ext cx="2286000" cy="1463040"/>
          </a:xfrm>
          <a:prstGeom prst="rect">
            <a:avLst/>
          </a:prstGeom>
          <a:noFill/>
        </p:spPr>
        <p:txBody>
          <a:bodyPr wrap="square">
            <a:spAutoFit/>
          </a:bodyPr>
          <a:lstStyle/>
          <a:p>
            <a:pPr>
              <a:spcAft>
                <a:spcPts val="600"/>
              </a:spcAft>
              <a:defRPr sz="1000">
                <a:solidFill>
                  <a:srgbClr val="9CA3AF"/>
                </a:solidFill>
                <a:latin typeface="Calibri"/>
              </a:defRPr>
            </a:pPr>
            <a:r>
              <a:t>id (UUID PK)</a:t>
            </a:r>
          </a:p>
          <a:p>
            <a:pPr>
              <a:spcAft>
                <a:spcPts val="600"/>
              </a:spcAft>
              <a:defRPr sz="1000">
                <a:solidFill>
                  <a:srgbClr val="9CA3AF"/>
                </a:solidFill>
                <a:latin typeface="Calibri"/>
              </a:defRPr>
            </a:pPr>
            <a:r>
              <a:t>connection_id (FK)</a:t>
            </a:r>
          </a:p>
          <a:p>
            <a:pPr>
              <a:spcAft>
                <a:spcPts val="600"/>
              </a:spcAft>
              <a:defRPr sz="1000">
                <a:solidFill>
                  <a:srgbClr val="9CA3AF"/>
                </a:solidFill>
                <a:latin typeface="Calibri"/>
              </a:defRPr>
            </a:pPr>
            <a:r>
              <a:t>last_sync_at</a:t>
            </a:r>
          </a:p>
          <a:p>
            <a:pPr>
              <a:spcAft>
                <a:spcPts val="600"/>
              </a:spcAft>
              <a:defRPr sz="1000">
                <a:solidFill>
                  <a:srgbClr val="9CA3AF"/>
                </a:solidFill>
                <a:latin typeface="Calibri"/>
              </a:defRPr>
            </a:pPr>
            <a:r>
              <a:t>sync_token</a:t>
            </a:r>
          </a:p>
          <a:p>
            <a:pPr>
              <a:spcAft>
                <a:spcPts val="600"/>
              </a:spcAft>
              <a:defRPr sz="1000">
                <a:solidFill>
                  <a:srgbClr val="9CA3AF"/>
                </a:solidFill>
                <a:latin typeface="Calibri"/>
              </a:defRPr>
            </a:pPr>
            <a:r>
              <a:t>items_synced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622"/>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3200" b="1">
                <a:solidFill>
                  <a:srgbClr val="FFFFFF"/>
                </a:solidFill>
                <a:latin typeface="Calibri"/>
              </a:defRPr>
            </a:pPr>
            <a:r>
              <a:t>Technology Stack</a:t>
            </a:r>
          </a:p>
        </p:txBody>
      </p:sp>
      <p:sp>
        <p:nvSpPr>
          <p:cNvPr id="3" name="Rectangle 2"/>
          <p:cNvSpPr/>
          <p:nvPr/>
        </p:nvSpPr>
        <p:spPr>
          <a:xfrm>
            <a:off x="731520" y="914400"/>
            <a:ext cx="1828800" cy="36576"/>
          </a:xfrm>
          <a:prstGeom prst="rect">
            <a:avLst/>
          </a:prstGeom>
          <a:solidFill>
            <a:srgbClr val="0D5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280160"/>
            <a:ext cx="2651760" cy="347472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2286000" cy="365760"/>
          </a:xfrm>
          <a:prstGeom prst="rect">
            <a:avLst/>
          </a:prstGeom>
          <a:noFill/>
        </p:spPr>
        <p:txBody>
          <a:bodyPr wrap="square">
            <a:spAutoFit/>
          </a:bodyPr>
          <a:lstStyle/>
          <a:p>
            <a:pPr algn="ctr">
              <a:defRPr sz="1800" b="1">
                <a:solidFill>
                  <a:srgbClr val="60A5FA"/>
                </a:solidFill>
                <a:latin typeface="Calibri"/>
              </a:defRPr>
            </a:pPr>
            <a:r>
              <a:t>Frontend</a:t>
            </a:r>
          </a:p>
        </p:txBody>
      </p:sp>
      <p:sp>
        <p:nvSpPr>
          <p:cNvPr id="6" name="Rectangle 5"/>
          <p:cNvSpPr/>
          <p:nvPr/>
        </p:nvSpPr>
        <p:spPr>
          <a:xfrm>
            <a:off x="731520" y="1783080"/>
            <a:ext cx="2103120" cy="18288"/>
          </a:xfrm>
          <a:prstGeom prst="rect">
            <a:avLst/>
          </a:prstGeom>
          <a:solidFill>
            <a:srgbClr val="282E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2103120" cy="2560320"/>
          </a:xfrm>
          <a:prstGeom prst="rect">
            <a:avLst/>
          </a:prstGeom>
          <a:noFill/>
        </p:spPr>
        <p:txBody>
          <a:bodyPr wrap="square">
            <a:spAutoFit/>
          </a:bodyPr>
          <a:lstStyle/>
          <a:p>
            <a:pPr>
              <a:spcAft>
                <a:spcPts val="600"/>
              </a:spcAft>
              <a:defRPr sz="1200">
                <a:solidFill>
                  <a:srgbClr val="9CA3AF"/>
                </a:solidFill>
                <a:latin typeface="Calibri"/>
              </a:defRPr>
            </a:pPr>
            <a:r>
              <a:t>Next.js 14 (App Router)</a:t>
            </a:r>
          </a:p>
          <a:p>
            <a:pPr>
              <a:spcAft>
                <a:spcPts val="600"/>
              </a:spcAft>
              <a:defRPr sz="1200">
                <a:solidFill>
                  <a:srgbClr val="9CA3AF"/>
                </a:solidFill>
                <a:latin typeface="Calibri"/>
              </a:defRPr>
            </a:pPr>
            <a:r>
              <a:t>TypeScript</a:t>
            </a:r>
          </a:p>
          <a:p>
            <a:pPr>
              <a:spcAft>
                <a:spcPts val="600"/>
              </a:spcAft>
              <a:defRPr sz="1200">
                <a:solidFill>
                  <a:srgbClr val="9CA3AF"/>
                </a:solidFill>
                <a:latin typeface="Calibri"/>
              </a:defRPr>
            </a:pPr>
            <a:r>
              <a:t>Tailwind CSS</a:t>
            </a:r>
          </a:p>
          <a:p>
            <a:pPr>
              <a:spcAft>
                <a:spcPts val="600"/>
              </a:spcAft>
              <a:defRPr sz="1200">
                <a:solidFill>
                  <a:srgbClr val="9CA3AF"/>
                </a:solidFill>
                <a:latin typeface="Calibri"/>
              </a:defRPr>
            </a:pPr>
            <a:r>
              <a:t>shadcn/ui Components</a:t>
            </a:r>
          </a:p>
          <a:p>
            <a:pPr>
              <a:spcAft>
                <a:spcPts val="600"/>
              </a:spcAft>
              <a:defRPr sz="1200">
                <a:solidFill>
                  <a:srgbClr val="9CA3AF"/>
                </a:solidFill>
                <a:latin typeface="Calibri"/>
              </a:defRPr>
            </a:pPr>
            <a:r>
              <a:t>TanStack Query (React Query)</a:t>
            </a:r>
          </a:p>
          <a:p>
            <a:pPr>
              <a:spcAft>
                <a:spcPts val="600"/>
              </a:spcAft>
              <a:defRPr sz="1200">
                <a:solidFill>
                  <a:srgbClr val="9CA3AF"/>
                </a:solidFill>
                <a:latin typeface="Calibri"/>
              </a:defRPr>
            </a:pPr>
            <a:r>
              <a:t>Axios HTTP Client</a:t>
            </a:r>
          </a:p>
        </p:txBody>
      </p:sp>
      <p:sp>
        <p:nvSpPr>
          <p:cNvPr id="8" name="Rounded Rectangle 7"/>
          <p:cNvSpPr/>
          <p:nvPr/>
        </p:nvSpPr>
        <p:spPr>
          <a:xfrm>
            <a:off x="3337560" y="1280160"/>
            <a:ext cx="2651760" cy="347472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20440" y="1371600"/>
            <a:ext cx="2286000" cy="365760"/>
          </a:xfrm>
          <a:prstGeom prst="rect">
            <a:avLst/>
          </a:prstGeom>
          <a:noFill/>
        </p:spPr>
        <p:txBody>
          <a:bodyPr wrap="square">
            <a:spAutoFit/>
          </a:bodyPr>
          <a:lstStyle/>
          <a:p>
            <a:pPr algn="ctr">
              <a:defRPr sz="1800" b="1">
                <a:solidFill>
                  <a:srgbClr val="34D399"/>
                </a:solidFill>
                <a:latin typeface="Calibri"/>
              </a:defRPr>
            </a:pPr>
            <a:r>
              <a:t>Backend</a:t>
            </a:r>
          </a:p>
        </p:txBody>
      </p:sp>
      <p:sp>
        <p:nvSpPr>
          <p:cNvPr id="10" name="Rectangle 9"/>
          <p:cNvSpPr/>
          <p:nvPr/>
        </p:nvSpPr>
        <p:spPr>
          <a:xfrm>
            <a:off x="3611880" y="1783080"/>
            <a:ext cx="2103120" cy="18288"/>
          </a:xfrm>
          <a:prstGeom prst="rect">
            <a:avLst/>
          </a:prstGeom>
          <a:solidFill>
            <a:srgbClr val="282E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1920240"/>
            <a:ext cx="2103120" cy="2560320"/>
          </a:xfrm>
          <a:prstGeom prst="rect">
            <a:avLst/>
          </a:prstGeom>
          <a:noFill/>
        </p:spPr>
        <p:txBody>
          <a:bodyPr wrap="square">
            <a:spAutoFit/>
          </a:bodyPr>
          <a:lstStyle/>
          <a:p>
            <a:pPr>
              <a:spcAft>
                <a:spcPts val="600"/>
              </a:spcAft>
              <a:defRPr sz="1200">
                <a:solidFill>
                  <a:srgbClr val="9CA3AF"/>
                </a:solidFill>
                <a:latin typeface="Calibri"/>
              </a:defRPr>
            </a:pPr>
            <a:r>
              <a:t>Python 3.12+ / FastAPI</a:t>
            </a:r>
          </a:p>
          <a:p>
            <a:pPr>
              <a:spcAft>
                <a:spcPts val="600"/>
              </a:spcAft>
              <a:defRPr sz="1200">
                <a:solidFill>
                  <a:srgbClr val="9CA3AF"/>
                </a:solidFill>
                <a:latin typeface="Calibri"/>
              </a:defRPr>
            </a:pPr>
            <a:r>
              <a:t>Async SQLAlchemy 2.0</a:t>
            </a:r>
          </a:p>
          <a:p>
            <a:pPr>
              <a:spcAft>
                <a:spcPts val="600"/>
              </a:spcAft>
              <a:defRPr sz="1200">
                <a:solidFill>
                  <a:srgbClr val="9CA3AF"/>
                </a:solidFill>
                <a:latin typeface="Calibri"/>
              </a:defRPr>
            </a:pPr>
            <a:r>
              <a:t>Pydantic v2 Schemas</a:t>
            </a:r>
          </a:p>
          <a:p>
            <a:pPr>
              <a:spcAft>
                <a:spcPts val="600"/>
              </a:spcAft>
              <a:defRPr sz="1200">
                <a:solidFill>
                  <a:srgbClr val="9CA3AF"/>
                </a:solidFill>
                <a:latin typeface="Calibri"/>
              </a:defRPr>
            </a:pPr>
            <a:r>
              <a:t>Alembic Migrations</a:t>
            </a:r>
          </a:p>
          <a:p>
            <a:pPr>
              <a:spcAft>
                <a:spcPts val="600"/>
              </a:spcAft>
              <a:defRPr sz="1200">
                <a:solidFill>
                  <a:srgbClr val="9CA3AF"/>
                </a:solidFill>
                <a:latin typeface="Calibri"/>
              </a:defRPr>
            </a:pPr>
            <a:r>
              <a:t>JWT Authentication</a:t>
            </a:r>
          </a:p>
          <a:p>
            <a:pPr>
              <a:spcAft>
                <a:spcPts val="600"/>
              </a:spcAft>
              <a:defRPr sz="1200">
                <a:solidFill>
                  <a:srgbClr val="9CA3AF"/>
                </a:solidFill>
                <a:latin typeface="Calibri"/>
              </a:defRPr>
            </a:pPr>
            <a:r>
              <a:t>httpx Async HTTP</a:t>
            </a:r>
          </a:p>
        </p:txBody>
      </p:sp>
      <p:sp>
        <p:nvSpPr>
          <p:cNvPr id="12" name="Rounded Rectangle 11"/>
          <p:cNvSpPr/>
          <p:nvPr/>
        </p:nvSpPr>
        <p:spPr>
          <a:xfrm>
            <a:off x="6217920" y="1280160"/>
            <a:ext cx="2651760" cy="347472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71600"/>
            <a:ext cx="2286000" cy="365760"/>
          </a:xfrm>
          <a:prstGeom prst="rect">
            <a:avLst/>
          </a:prstGeom>
          <a:noFill/>
        </p:spPr>
        <p:txBody>
          <a:bodyPr wrap="square">
            <a:spAutoFit/>
          </a:bodyPr>
          <a:lstStyle/>
          <a:p>
            <a:pPr algn="ctr">
              <a:defRPr sz="1800" b="1">
                <a:solidFill>
                  <a:srgbClr val="FBBF24"/>
                </a:solidFill>
                <a:latin typeface="Calibri"/>
              </a:defRPr>
            </a:pPr>
            <a:r>
              <a:t>AI &amp; ML</a:t>
            </a:r>
          </a:p>
        </p:txBody>
      </p:sp>
      <p:sp>
        <p:nvSpPr>
          <p:cNvPr id="14" name="Rectangle 13"/>
          <p:cNvSpPr/>
          <p:nvPr/>
        </p:nvSpPr>
        <p:spPr>
          <a:xfrm>
            <a:off x="6492240" y="1783080"/>
            <a:ext cx="2103120" cy="18288"/>
          </a:xfrm>
          <a:prstGeom prst="rect">
            <a:avLst/>
          </a:prstGeom>
          <a:solidFill>
            <a:srgbClr val="282E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920240"/>
            <a:ext cx="2103120" cy="2560320"/>
          </a:xfrm>
          <a:prstGeom prst="rect">
            <a:avLst/>
          </a:prstGeom>
          <a:noFill/>
        </p:spPr>
        <p:txBody>
          <a:bodyPr wrap="square">
            <a:spAutoFit/>
          </a:bodyPr>
          <a:lstStyle/>
          <a:p>
            <a:pPr>
              <a:spcAft>
                <a:spcPts val="600"/>
              </a:spcAft>
              <a:defRPr sz="1200">
                <a:solidFill>
                  <a:srgbClr val="9CA3AF"/>
                </a:solidFill>
                <a:latin typeface="Calibri"/>
              </a:defRPr>
            </a:pPr>
            <a:r>
              <a:t>LangChain Framework</a:t>
            </a:r>
          </a:p>
          <a:p>
            <a:pPr>
              <a:spcAft>
                <a:spcPts val="600"/>
              </a:spcAft>
              <a:defRPr sz="1200">
                <a:solidFill>
                  <a:srgbClr val="9CA3AF"/>
                </a:solidFill>
                <a:latin typeface="Calibri"/>
              </a:defRPr>
            </a:pPr>
            <a:r>
              <a:t>Anthropic Claude (default)</a:t>
            </a:r>
          </a:p>
          <a:p>
            <a:pPr>
              <a:spcAft>
                <a:spcPts val="600"/>
              </a:spcAft>
              <a:defRPr sz="1200">
                <a:solidFill>
                  <a:srgbClr val="9CA3AF"/>
                </a:solidFill>
                <a:latin typeface="Calibri"/>
              </a:defRPr>
            </a:pPr>
            <a:r>
              <a:t>OpenAI GPT (optional)</a:t>
            </a:r>
          </a:p>
          <a:p>
            <a:pPr>
              <a:spcAft>
                <a:spcPts val="600"/>
              </a:spcAft>
              <a:defRPr sz="1200">
                <a:solidFill>
                  <a:srgbClr val="9CA3AF"/>
                </a:solidFill>
                <a:latin typeface="Calibri"/>
              </a:defRPr>
            </a:pPr>
            <a:r>
              <a:t>Ollama (local, optional)</a:t>
            </a:r>
          </a:p>
          <a:p>
            <a:pPr>
              <a:spcAft>
                <a:spcPts val="600"/>
              </a:spcAft>
              <a:defRPr sz="1200">
                <a:solidFill>
                  <a:srgbClr val="9CA3AF"/>
                </a:solidFill>
                <a:latin typeface="Calibri"/>
              </a:defRPr>
            </a:pPr>
            <a:r>
              <a:t>AWS Bedrock DeepSeek</a:t>
            </a:r>
          </a:p>
          <a:p>
            <a:pPr>
              <a:spcAft>
                <a:spcPts val="600"/>
              </a:spcAft>
              <a:defRPr sz="1200">
                <a:solidFill>
                  <a:srgbClr val="9CA3AF"/>
                </a:solidFill>
                <a:latin typeface="Calibri"/>
              </a:defRPr>
            </a:pPr>
            <a:r>
              <a:t>Prompt Templates + Parsers</a:t>
            </a:r>
          </a:p>
        </p:txBody>
      </p:sp>
      <p:sp>
        <p:nvSpPr>
          <p:cNvPr id="16" name="Rounded Rectangle 15"/>
          <p:cNvSpPr/>
          <p:nvPr/>
        </p:nvSpPr>
        <p:spPr>
          <a:xfrm>
            <a:off x="9098280" y="1280160"/>
            <a:ext cx="2651760" cy="347472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81160" y="1371600"/>
            <a:ext cx="2286000" cy="365760"/>
          </a:xfrm>
          <a:prstGeom prst="rect">
            <a:avLst/>
          </a:prstGeom>
          <a:noFill/>
        </p:spPr>
        <p:txBody>
          <a:bodyPr wrap="square">
            <a:spAutoFit/>
          </a:bodyPr>
          <a:lstStyle/>
          <a:p>
            <a:pPr algn="ctr">
              <a:defRPr sz="1800" b="1">
                <a:solidFill>
                  <a:srgbClr val="F87171"/>
                </a:solidFill>
                <a:latin typeface="Calibri"/>
              </a:defRPr>
            </a:pPr>
            <a:r>
              <a:t>Infrastructure</a:t>
            </a:r>
          </a:p>
        </p:txBody>
      </p:sp>
      <p:sp>
        <p:nvSpPr>
          <p:cNvPr id="18" name="Rectangle 17"/>
          <p:cNvSpPr/>
          <p:nvPr/>
        </p:nvSpPr>
        <p:spPr>
          <a:xfrm>
            <a:off x="9372600" y="1783080"/>
            <a:ext cx="2103120" cy="18288"/>
          </a:xfrm>
          <a:prstGeom prst="rect">
            <a:avLst/>
          </a:prstGeom>
          <a:solidFill>
            <a:srgbClr val="282E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72600" y="1920240"/>
            <a:ext cx="2103120" cy="2560320"/>
          </a:xfrm>
          <a:prstGeom prst="rect">
            <a:avLst/>
          </a:prstGeom>
          <a:noFill/>
        </p:spPr>
        <p:txBody>
          <a:bodyPr wrap="square">
            <a:spAutoFit/>
          </a:bodyPr>
          <a:lstStyle/>
          <a:p>
            <a:pPr>
              <a:spcAft>
                <a:spcPts val="600"/>
              </a:spcAft>
              <a:defRPr sz="1200">
                <a:solidFill>
                  <a:srgbClr val="9CA3AF"/>
                </a:solidFill>
                <a:latin typeface="Calibri"/>
              </a:defRPr>
            </a:pPr>
            <a:r>
              <a:t>PostgreSQL (asyncpg)</a:t>
            </a:r>
          </a:p>
          <a:p>
            <a:pPr>
              <a:spcAft>
                <a:spcPts val="600"/>
              </a:spcAft>
              <a:defRPr sz="1200">
                <a:solidFill>
                  <a:srgbClr val="9CA3AF"/>
                </a:solidFill>
                <a:latin typeface="Calibri"/>
              </a:defRPr>
            </a:pPr>
            <a:r>
              <a:t>Redis</a:t>
            </a:r>
          </a:p>
          <a:p>
            <a:pPr>
              <a:spcAft>
                <a:spcPts val="600"/>
              </a:spcAft>
              <a:defRPr sz="1200">
                <a:solidFill>
                  <a:srgbClr val="9CA3AF"/>
                </a:solidFill>
                <a:latin typeface="Calibri"/>
              </a:defRPr>
            </a:pPr>
            <a:r>
              <a:t>Celery Workers</a:t>
            </a:r>
          </a:p>
          <a:p>
            <a:pPr>
              <a:spcAft>
                <a:spcPts val="600"/>
              </a:spcAft>
              <a:defRPr sz="1200">
                <a:solidFill>
                  <a:srgbClr val="9CA3AF"/>
                </a:solidFill>
                <a:latin typeface="Calibri"/>
              </a:defRPr>
            </a:pPr>
            <a:r>
              <a:t>Docker Compose</a:t>
            </a:r>
          </a:p>
          <a:p>
            <a:pPr>
              <a:spcAft>
                <a:spcPts val="600"/>
              </a:spcAft>
              <a:defRPr sz="1200">
                <a:solidFill>
                  <a:srgbClr val="9CA3AF"/>
                </a:solidFill>
                <a:latin typeface="Calibri"/>
              </a:defRPr>
            </a:pPr>
            <a:r>
              <a:t>OAuth 2.0 Flows</a:t>
            </a:r>
          </a:p>
          <a:p>
            <a:pPr>
              <a:spcAft>
                <a:spcPts val="600"/>
              </a:spcAft>
              <a:defRPr sz="1200">
                <a:solidFill>
                  <a:srgbClr val="9CA3AF"/>
                </a:solidFill>
                <a:latin typeface="Calibri"/>
              </a:defRPr>
            </a:pPr>
            <a:r>
              <a:t>Local-First Architecture</a:t>
            </a:r>
          </a:p>
        </p:txBody>
      </p:sp>
      <p:sp>
        <p:nvSpPr>
          <p:cNvPr id="20" name="TextBox 19"/>
          <p:cNvSpPr txBox="1"/>
          <p:nvPr/>
        </p:nvSpPr>
        <p:spPr>
          <a:xfrm>
            <a:off x="731520" y="5029200"/>
            <a:ext cx="10058400" cy="457200"/>
          </a:xfrm>
          <a:prstGeom prst="rect">
            <a:avLst/>
          </a:prstGeom>
          <a:noFill/>
        </p:spPr>
        <p:txBody>
          <a:bodyPr wrap="square">
            <a:spAutoFit/>
          </a:bodyPr>
          <a:lstStyle/>
          <a:p>
            <a:pPr algn="l">
              <a:defRPr sz="1800" b="1">
                <a:solidFill>
                  <a:srgbClr val="FFFFFF"/>
                </a:solidFill>
                <a:latin typeface="Calibri"/>
              </a:defRPr>
            </a:pPr>
            <a:r>
              <a:t>Integrations</a:t>
            </a:r>
          </a:p>
        </p:txBody>
      </p:sp>
      <p:sp>
        <p:nvSpPr>
          <p:cNvPr id="21" name="Rounded Rectangle 20"/>
          <p:cNvSpPr/>
          <p:nvPr/>
        </p:nvSpPr>
        <p:spPr>
          <a:xfrm>
            <a:off x="457200" y="5394960"/>
            <a:ext cx="2651760" cy="109728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486400"/>
            <a:ext cx="2286000" cy="274320"/>
          </a:xfrm>
          <a:prstGeom prst="rect">
            <a:avLst/>
          </a:prstGeom>
          <a:noFill/>
        </p:spPr>
        <p:txBody>
          <a:bodyPr wrap="square">
            <a:spAutoFit/>
          </a:bodyPr>
          <a:lstStyle/>
          <a:p>
            <a:pPr algn="l">
              <a:defRPr sz="1400" b="1">
                <a:solidFill>
                  <a:srgbClr val="F87171"/>
                </a:solidFill>
                <a:latin typeface="Calibri"/>
              </a:defRPr>
            </a:pPr>
            <a:r>
              <a:t>Gmail</a:t>
            </a:r>
          </a:p>
        </p:txBody>
      </p:sp>
      <p:sp>
        <p:nvSpPr>
          <p:cNvPr id="23" name="TextBox 22"/>
          <p:cNvSpPr txBox="1"/>
          <p:nvPr/>
        </p:nvSpPr>
        <p:spPr>
          <a:xfrm>
            <a:off x="640080" y="5760720"/>
            <a:ext cx="2286000" cy="640080"/>
          </a:xfrm>
          <a:prstGeom prst="rect">
            <a:avLst/>
          </a:prstGeom>
          <a:noFill/>
        </p:spPr>
        <p:txBody>
          <a:bodyPr wrap="square">
            <a:spAutoFit/>
          </a:bodyPr>
          <a:lstStyle/>
          <a:p>
            <a:pPr algn="l">
              <a:defRPr sz="1000" b="0">
                <a:solidFill>
                  <a:srgbClr val="9CA3AF"/>
                </a:solidFill>
                <a:latin typeface="Calibri"/>
              </a:defRPr>
            </a:pPr>
            <a:r>
              <a:t>OAuth 2.0, History API</a:t>
            </a:r>
            <a:br/>
            <a:r>
              <a:t>Full / incremental sync</a:t>
            </a:r>
          </a:p>
        </p:txBody>
      </p:sp>
      <p:sp>
        <p:nvSpPr>
          <p:cNvPr id="24" name="Rounded Rectangle 23"/>
          <p:cNvSpPr/>
          <p:nvPr/>
        </p:nvSpPr>
        <p:spPr>
          <a:xfrm>
            <a:off x="3337560" y="5394960"/>
            <a:ext cx="2651760" cy="109728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20440" y="5486400"/>
            <a:ext cx="2286000" cy="274320"/>
          </a:xfrm>
          <a:prstGeom prst="rect">
            <a:avLst/>
          </a:prstGeom>
          <a:noFill/>
        </p:spPr>
        <p:txBody>
          <a:bodyPr wrap="square">
            <a:spAutoFit/>
          </a:bodyPr>
          <a:lstStyle/>
          <a:p>
            <a:pPr algn="l">
              <a:defRPr sz="1400" b="1">
                <a:solidFill>
                  <a:srgbClr val="FBBF24"/>
                </a:solidFill>
                <a:latin typeface="Calibri"/>
              </a:defRPr>
            </a:pPr>
            <a:r>
              <a:t>Slack</a:t>
            </a:r>
          </a:p>
        </p:txBody>
      </p:sp>
      <p:sp>
        <p:nvSpPr>
          <p:cNvPr id="26" name="TextBox 25"/>
          <p:cNvSpPr txBox="1"/>
          <p:nvPr/>
        </p:nvSpPr>
        <p:spPr>
          <a:xfrm>
            <a:off x="3520440" y="5760720"/>
            <a:ext cx="2286000" cy="640080"/>
          </a:xfrm>
          <a:prstGeom prst="rect">
            <a:avLst/>
          </a:prstGeom>
          <a:noFill/>
        </p:spPr>
        <p:txBody>
          <a:bodyPr wrap="square">
            <a:spAutoFit/>
          </a:bodyPr>
          <a:lstStyle/>
          <a:p>
            <a:pPr algn="l">
              <a:defRPr sz="1000" b="0">
                <a:solidFill>
                  <a:srgbClr val="9CA3AF"/>
                </a:solidFill>
                <a:latin typeface="Calibri"/>
              </a:defRPr>
            </a:pPr>
            <a:r>
              <a:t>OAuth 2.0, Web API</a:t>
            </a:r>
            <a:br/>
            <a:r>
              <a:t>Messages + DMs sync</a:t>
            </a:r>
          </a:p>
        </p:txBody>
      </p:sp>
      <p:sp>
        <p:nvSpPr>
          <p:cNvPr id="27" name="Rounded Rectangle 26"/>
          <p:cNvSpPr/>
          <p:nvPr/>
        </p:nvSpPr>
        <p:spPr>
          <a:xfrm>
            <a:off x="6217920" y="5394960"/>
            <a:ext cx="2651760" cy="109728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5486400"/>
            <a:ext cx="2286000" cy="274320"/>
          </a:xfrm>
          <a:prstGeom prst="rect">
            <a:avLst/>
          </a:prstGeom>
          <a:noFill/>
        </p:spPr>
        <p:txBody>
          <a:bodyPr wrap="square">
            <a:spAutoFit/>
          </a:bodyPr>
          <a:lstStyle/>
          <a:p>
            <a:pPr algn="l">
              <a:defRPr sz="1400" b="1">
                <a:solidFill>
                  <a:srgbClr val="60A5FA"/>
                </a:solidFill>
                <a:latin typeface="Calibri"/>
              </a:defRPr>
            </a:pPr>
            <a:r>
              <a:t>Google Calendar</a:t>
            </a:r>
          </a:p>
        </p:txBody>
      </p:sp>
      <p:sp>
        <p:nvSpPr>
          <p:cNvPr id="29" name="TextBox 28"/>
          <p:cNvSpPr txBox="1"/>
          <p:nvPr/>
        </p:nvSpPr>
        <p:spPr>
          <a:xfrm>
            <a:off x="6400800" y="5760720"/>
            <a:ext cx="2286000" cy="640080"/>
          </a:xfrm>
          <a:prstGeom prst="rect">
            <a:avLst/>
          </a:prstGeom>
          <a:noFill/>
        </p:spPr>
        <p:txBody>
          <a:bodyPr wrap="square">
            <a:spAutoFit/>
          </a:bodyPr>
          <a:lstStyle/>
          <a:p>
            <a:pPr algn="l">
              <a:defRPr sz="1000" b="0">
                <a:solidFill>
                  <a:srgbClr val="9CA3AF"/>
                </a:solidFill>
                <a:latin typeface="Calibri"/>
              </a:defRPr>
            </a:pPr>
            <a:r>
              <a:t>OAuth 2.0, Events API</a:t>
            </a:r>
            <a:br/>
            <a:r>
              <a:t>Events + invites sync</a:t>
            </a:r>
          </a:p>
        </p:txBody>
      </p:sp>
      <p:sp>
        <p:nvSpPr>
          <p:cNvPr id="30" name="Rounded Rectangle 29"/>
          <p:cNvSpPr/>
          <p:nvPr/>
        </p:nvSpPr>
        <p:spPr>
          <a:xfrm>
            <a:off x="9098280" y="5394960"/>
            <a:ext cx="2651760" cy="109728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81160" y="5486400"/>
            <a:ext cx="2286000" cy="274320"/>
          </a:xfrm>
          <a:prstGeom prst="rect">
            <a:avLst/>
          </a:prstGeom>
          <a:noFill/>
        </p:spPr>
        <p:txBody>
          <a:bodyPr wrap="square">
            <a:spAutoFit/>
          </a:bodyPr>
          <a:lstStyle/>
          <a:p>
            <a:pPr algn="l">
              <a:defRPr sz="1400" b="1">
                <a:solidFill>
                  <a:srgbClr val="0D59F2"/>
                </a:solidFill>
                <a:latin typeface="Calibri"/>
              </a:defRPr>
            </a:pPr>
            <a:r>
              <a:t>Zoom</a:t>
            </a:r>
          </a:p>
        </p:txBody>
      </p:sp>
      <p:sp>
        <p:nvSpPr>
          <p:cNvPr id="32" name="TextBox 31"/>
          <p:cNvSpPr txBox="1"/>
          <p:nvPr/>
        </p:nvSpPr>
        <p:spPr>
          <a:xfrm>
            <a:off x="9281160" y="5760720"/>
            <a:ext cx="2286000" cy="640080"/>
          </a:xfrm>
          <a:prstGeom prst="rect">
            <a:avLst/>
          </a:prstGeom>
          <a:noFill/>
        </p:spPr>
        <p:txBody>
          <a:bodyPr wrap="square">
            <a:spAutoFit/>
          </a:bodyPr>
          <a:lstStyle/>
          <a:p>
            <a:pPr algn="l">
              <a:defRPr sz="1000" b="0">
                <a:solidFill>
                  <a:srgbClr val="9CA3AF"/>
                </a:solidFill>
                <a:latin typeface="Calibri"/>
              </a:defRPr>
            </a:pPr>
            <a:r>
              <a:t>OAuth 2.0, Recordings API</a:t>
            </a:r>
            <a:br/>
            <a:r>
              <a:t>Transcript sync + upload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622"/>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3200" b="1">
                <a:solidFill>
                  <a:srgbClr val="FFFFFF"/>
                </a:solidFill>
                <a:latin typeface="Calibri"/>
              </a:defRPr>
            </a:pPr>
            <a:r>
              <a:t>Feature Phases &amp; Roadmap</a:t>
            </a:r>
          </a:p>
        </p:txBody>
      </p:sp>
      <p:sp>
        <p:nvSpPr>
          <p:cNvPr id="3" name="Rectangle 2"/>
          <p:cNvSpPr/>
          <p:nvPr/>
        </p:nvSpPr>
        <p:spPr>
          <a:xfrm>
            <a:off x="731520" y="914400"/>
            <a:ext cx="1828800" cy="36576"/>
          </a:xfrm>
          <a:prstGeom prst="rect">
            <a:avLst/>
          </a:prstGeom>
          <a:solidFill>
            <a:srgbClr val="0D5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188720"/>
            <a:ext cx="11247120" cy="91440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61872"/>
            <a:ext cx="3200400" cy="320040"/>
          </a:xfrm>
          <a:prstGeom prst="rect">
            <a:avLst/>
          </a:prstGeom>
          <a:noFill/>
        </p:spPr>
        <p:txBody>
          <a:bodyPr wrap="square">
            <a:spAutoFit/>
          </a:bodyPr>
          <a:lstStyle/>
          <a:p>
            <a:pPr algn="l">
              <a:defRPr sz="1400" b="1">
                <a:solidFill>
                  <a:srgbClr val="FFFFFF"/>
                </a:solidFill>
                <a:latin typeface="Calibri"/>
              </a:defRPr>
            </a:pPr>
            <a:r>
              <a:t>Phase 1: Foundation</a:t>
            </a:r>
          </a:p>
        </p:txBody>
      </p:sp>
      <p:sp>
        <p:nvSpPr>
          <p:cNvPr id="6" name="Rounded Rectangle 5"/>
          <p:cNvSpPr/>
          <p:nvPr/>
        </p:nvSpPr>
        <p:spPr>
          <a:xfrm>
            <a:off x="3840480" y="1298448"/>
            <a:ext cx="1005840" cy="256032"/>
          </a:xfrm>
          <a:prstGeom prst="roundRect">
            <a:avLst>
              <a:gd name="adj" fmla="val 5000"/>
            </a:avLst>
          </a:prstGeom>
          <a:solidFill>
            <a:srgbClr val="101622"/>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0" y="1298448"/>
            <a:ext cx="1005840" cy="256032"/>
          </a:xfrm>
          <a:prstGeom prst="rect">
            <a:avLst/>
          </a:prstGeom>
          <a:noFill/>
        </p:spPr>
        <p:txBody>
          <a:bodyPr wrap="square">
            <a:spAutoFit/>
          </a:bodyPr>
          <a:lstStyle/>
          <a:p>
            <a:pPr algn="ctr">
              <a:defRPr sz="900" b="1">
                <a:solidFill>
                  <a:srgbClr val="34D399"/>
                </a:solidFill>
                <a:latin typeface="Calibri"/>
              </a:defRPr>
            </a:pPr>
            <a:r>
              <a:t>COMPLETE</a:t>
            </a:r>
          </a:p>
        </p:txBody>
      </p:sp>
      <p:sp>
        <p:nvSpPr>
          <p:cNvPr id="8" name="TextBox 7"/>
          <p:cNvSpPr txBox="1"/>
          <p:nvPr/>
        </p:nvSpPr>
        <p:spPr>
          <a:xfrm>
            <a:off x="5029200" y="1325880"/>
            <a:ext cx="6400800" cy="640080"/>
          </a:xfrm>
          <a:prstGeom prst="rect">
            <a:avLst/>
          </a:prstGeom>
          <a:noFill/>
        </p:spPr>
        <p:txBody>
          <a:bodyPr wrap="square">
            <a:spAutoFit/>
          </a:bodyPr>
          <a:lstStyle/>
          <a:p>
            <a:pPr algn="l">
              <a:defRPr sz="1000" b="0">
                <a:solidFill>
                  <a:srgbClr val="9CA3AF"/>
                </a:solidFill>
                <a:latin typeface="Calibri"/>
              </a:defRPr>
            </a:pPr>
            <a:r>
              <a:t>JWT Auth + user management   |   Gmail &amp; Slack OAuth flows   |   Basic sync + unified Items table   |   Inbox view with platform icons</a:t>
            </a:r>
          </a:p>
        </p:txBody>
      </p:sp>
      <p:sp>
        <p:nvSpPr>
          <p:cNvPr id="9" name="Rounded Rectangle 8"/>
          <p:cNvSpPr/>
          <p:nvPr/>
        </p:nvSpPr>
        <p:spPr>
          <a:xfrm>
            <a:off x="457200" y="2240280"/>
            <a:ext cx="11247120" cy="91440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313432"/>
            <a:ext cx="3200400" cy="320040"/>
          </a:xfrm>
          <a:prstGeom prst="rect">
            <a:avLst/>
          </a:prstGeom>
          <a:noFill/>
        </p:spPr>
        <p:txBody>
          <a:bodyPr wrap="square">
            <a:spAutoFit/>
          </a:bodyPr>
          <a:lstStyle/>
          <a:p>
            <a:pPr algn="l">
              <a:defRPr sz="1400" b="1">
                <a:solidFill>
                  <a:srgbClr val="FFFFFF"/>
                </a:solidFill>
                <a:latin typeface="Calibri"/>
              </a:defRPr>
            </a:pPr>
            <a:r>
              <a:t>Phase 2: Intelligence</a:t>
            </a:r>
          </a:p>
        </p:txBody>
      </p:sp>
      <p:sp>
        <p:nvSpPr>
          <p:cNvPr id="11" name="Rounded Rectangle 10"/>
          <p:cNvSpPr/>
          <p:nvPr/>
        </p:nvSpPr>
        <p:spPr>
          <a:xfrm>
            <a:off x="3840480" y="2350008"/>
            <a:ext cx="1005840" cy="256032"/>
          </a:xfrm>
          <a:prstGeom prst="roundRect">
            <a:avLst>
              <a:gd name="adj" fmla="val 5000"/>
            </a:avLst>
          </a:prstGeom>
          <a:solidFill>
            <a:srgbClr val="101622"/>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0" y="2350008"/>
            <a:ext cx="1005840" cy="256032"/>
          </a:xfrm>
          <a:prstGeom prst="rect">
            <a:avLst/>
          </a:prstGeom>
          <a:noFill/>
        </p:spPr>
        <p:txBody>
          <a:bodyPr wrap="square">
            <a:spAutoFit/>
          </a:bodyPr>
          <a:lstStyle/>
          <a:p>
            <a:pPr algn="ctr">
              <a:defRPr sz="900" b="1">
                <a:solidFill>
                  <a:srgbClr val="34D399"/>
                </a:solidFill>
                <a:latin typeface="Calibri"/>
              </a:defRPr>
            </a:pPr>
            <a:r>
              <a:t>COMPLETE</a:t>
            </a:r>
          </a:p>
        </p:txBody>
      </p:sp>
      <p:sp>
        <p:nvSpPr>
          <p:cNvPr id="13" name="TextBox 12"/>
          <p:cNvSpPr txBox="1"/>
          <p:nvPr/>
        </p:nvSpPr>
        <p:spPr>
          <a:xfrm>
            <a:off x="5029200" y="2377440"/>
            <a:ext cx="6400800" cy="640080"/>
          </a:xfrm>
          <a:prstGeom prst="rect">
            <a:avLst/>
          </a:prstGeom>
          <a:noFill/>
        </p:spPr>
        <p:txBody>
          <a:bodyPr wrap="square">
            <a:spAutoFit/>
          </a:bodyPr>
          <a:lstStyle/>
          <a:p>
            <a:pPr algn="l">
              <a:defRPr sz="1000" b="0">
                <a:solidFill>
                  <a:srgbClr val="9CA3AF"/>
                </a:solidFill>
                <a:latin typeface="Calibri"/>
              </a:defRPr>
            </a:pPr>
            <a:r>
              <a:t>AI summarization pipeline   |   Deadline extraction with dates   |   Action classification   |   Priority scoring (1-100)   |   Category detection</a:t>
            </a:r>
          </a:p>
        </p:txBody>
      </p:sp>
      <p:sp>
        <p:nvSpPr>
          <p:cNvPr id="14" name="Rounded Rectangle 13"/>
          <p:cNvSpPr/>
          <p:nvPr/>
        </p:nvSpPr>
        <p:spPr>
          <a:xfrm>
            <a:off x="457200" y="3291839"/>
            <a:ext cx="11247120" cy="91440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364991"/>
            <a:ext cx="3200400" cy="320040"/>
          </a:xfrm>
          <a:prstGeom prst="rect">
            <a:avLst/>
          </a:prstGeom>
          <a:noFill/>
        </p:spPr>
        <p:txBody>
          <a:bodyPr wrap="square">
            <a:spAutoFit/>
          </a:bodyPr>
          <a:lstStyle/>
          <a:p>
            <a:pPr algn="l">
              <a:defRPr sz="1400" b="1">
                <a:solidFill>
                  <a:srgbClr val="FFFFFF"/>
                </a:solidFill>
                <a:latin typeface="Calibri"/>
              </a:defRPr>
            </a:pPr>
            <a:r>
              <a:t>Phase 3: Productivity</a:t>
            </a:r>
          </a:p>
        </p:txBody>
      </p:sp>
      <p:sp>
        <p:nvSpPr>
          <p:cNvPr id="16" name="Rounded Rectangle 15"/>
          <p:cNvSpPr/>
          <p:nvPr/>
        </p:nvSpPr>
        <p:spPr>
          <a:xfrm>
            <a:off x="3840480" y="3401567"/>
            <a:ext cx="1005840" cy="256032"/>
          </a:xfrm>
          <a:prstGeom prst="roundRect">
            <a:avLst>
              <a:gd name="adj" fmla="val 5000"/>
            </a:avLst>
          </a:prstGeom>
          <a:solidFill>
            <a:srgbClr val="101622"/>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0" y="3401567"/>
            <a:ext cx="1005840" cy="256032"/>
          </a:xfrm>
          <a:prstGeom prst="rect">
            <a:avLst/>
          </a:prstGeom>
          <a:noFill/>
        </p:spPr>
        <p:txBody>
          <a:bodyPr wrap="square">
            <a:spAutoFit/>
          </a:bodyPr>
          <a:lstStyle/>
          <a:p>
            <a:pPr algn="ctr">
              <a:defRPr sz="900" b="1">
                <a:solidFill>
                  <a:srgbClr val="34D399"/>
                </a:solidFill>
                <a:latin typeface="Calibri"/>
              </a:defRPr>
            </a:pPr>
            <a:r>
              <a:t>COMPLETE</a:t>
            </a:r>
          </a:p>
        </p:txBody>
      </p:sp>
      <p:sp>
        <p:nvSpPr>
          <p:cNvPr id="18" name="TextBox 17"/>
          <p:cNvSpPr txBox="1"/>
          <p:nvPr/>
        </p:nvSpPr>
        <p:spPr>
          <a:xfrm>
            <a:off x="5029200" y="3428999"/>
            <a:ext cx="6400800" cy="640080"/>
          </a:xfrm>
          <a:prstGeom prst="rect">
            <a:avLst/>
          </a:prstGeom>
          <a:noFill/>
        </p:spPr>
        <p:txBody>
          <a:bodyPr wrap="square">
            <a:spAutoFit/>
          </a:bodyPr>
          <a:lstStyle/>
          <a:p>
            <a:pPr algn="l">
              <a:defRPr sz="1000" b="0">
                <a:solidFill>
                  <a:srgbClr val="9CA3AF"/>
                </a:solidFill>
                <a:latin typeface="Calibri"/>
              </a:defRPr>
            </a:pPr>
            <a:r>
              <a:t>Daily AI briefings   |   Deadline dashboard + calendar   |   Task board (CRUD)   |   Chat interface (NL queries)   |   Zoom transcript integration</a:t>
            </a:r>
          </a:p>
        </p:txBody>
      </p:sp>
      <p:sp>
        <p:nvSpPr>
          <p:cNvPr id="19" name="Rounded Rectangle 18"/>
          <p:cNvSpPr/>
          <p:nvPr/>
        </p:nvSpPr>
        <p:spPr>
          <a:xfrm>
            <a:off x="457200" y="4343400"/>
            <a:ext cx="11247120" cy="91440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416552"/>
            <a:ext cx="3200400" cy="320040"/>
          </a:xfrm>
          <a:prstGeom prst="rect">
            <a:avLst/>
          </a:prstGeom>
          <a:noFill/>
        </p:spPr>
        <p:txBody>
          <a:bodyPr wrap="square">
            <a:spAutoFit/>
          </a:bodyPr>
          <a:lstStyle/>
          <a:p>
            <a:pPr algn="l">
              <a:defRPr sz="1400" b="1">
                <a:solidFill>
                  <a:srgbClr val="FFFFFF"/>
                </a:solidFill>
                <a:latin typeface="Calibri"/>
              </a:defRPr>
            </a:pPr>
            <a:r>
              <a:t>Phase 4: Actions</a:t>
            </a:r>
          </a:p>
        </p:txBody>
      </p:sp>
      <p:sp>
        <p:nvSpPr>
          <p:cNvPr id="21" name="Rounded Rectangle 20"/>
          <p:cNvSpPr/>
          <p:nvPr/>
        </p:nvSpPr>
        <p:spPr>
          <a:xfrm>
            <a:off x="3840480" y="4453128"/>
            <a:ext cx="1005840" cy="256032"/>
          </a:xfrm>
          <a:prstGeom prst="roundRect">
            <a:avLst>
              <a:gd name="adj" fmla="val 5000"/>
            </a:avLst>
          </a:prstGeom>
          <a:solidFill>
            <a:srgbClr val="101622"/>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0" y="4453128"/>
            <a:ext cx="1005840" cy="256032"/>
          </a:xfrm>
          <a:prstGeom prst="rect">
            <a:avLst/>
          </a:prstGeom>
          <a:noFill/>
        </p:spPr>
        <p:txBody>
          <a:bodyPr wrap="square">
            <a:spAutoFit/>
          </a:bodyPr>
          <a:lstStyle/>
          <a:p>
            <a:pPr algn="ctr">
              <a:defRPr sz="900" b="1">
                <a:solidFill>
                  <a:srgbClr val="FBBF24"/>
                </a:solidFill>
                <a:latin typeface="Calibri"/>
              </a:defRPr>
            </a:pPr>
            <a:r>
              <a:t>PLANNED</a:t>
            </a:r>
          </a:p>
        </p:txBody>
      </p:sp>
      <p:sp>
        <p:nvSpPr>
          <p:cNvPr id="23" name="TextBox 22"/>
          <p:cNvSpPr txBox="1"/>
          <p:nvPr/>
        </p:nvSpPr>
        <p:spPr>
          <a:xfrm>
            <a:off x="5029200" y="4480560"/>
            <a:ext cx="6400800" cy="640080"/>
          </a:xfrm>
          <a:prstGeom prst="rect">
            <a:avLst/>
          </a:prstGeom>
          <a:noFill/>
        </p:spPr>
        <p:txBody>
          <a:bodyPr wrap="square">
            <a:spAutoFit/>
          </a:bodyPr>
          <a:lstStyle/>
          <a:p>
            <a:pPr algn="l">
              <a:defRPr sz="1000" b="0">
                <a:solidFill>
                  <a:srgbClr val="9CA3AF"/>
                </a:solidFill>
                <a:latin typeface="Calibri"/>
              </a:defRPr>
            </a:pPr>
            <a:r>
              <a:t>Email draft &amp; send   |   Slack reply from inbox   |   Quick action buttons   |   Keyboard shortcuts</a:t>
            </a:r>
          </a:p>
        </p:txBody>
      </p:sp>
      <p:sp>
        <p:nvSpPr>
          <p:cNvPr id="24" name="Rounded Rectangle 23"/>
          <p:cNvSpPr/>
          <p:nvPr/>
        </p:nvSpPr>
        <p:spPr>
          <a:xfrm>
            <a:off x="457200" y="5394959"/>
            <a:ext cx="11247120" cy="91440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468111"/>
            <a:ext cx="3200400" cy="320040"/>
          </a:xfrm>
          <a:prstGeom prst="rect">
            <a:avLst/>
          </a:prstGeom>
          <a:noFill/>
        </p:spPr>
        <p:txBody>
          <a:bodyPr wrap="square">
            <a:spAutoFit/>
          </a:bodyPr>
          <a:lstStyle/>
          <a:p>
            <a:pPr algn="l">
              <a:defRPr sz="1400" b="1">
                <a:solidFill>
                  <a:srgbClr val="FFFFFF"/>
                </a:solidFill>
                <a:latin typeface="Calibri"/>
              </a:defRPr>
            </a:pPr>
            <a:r>
              <a:t>Phase 5: Polish</a:t>
            </a:r>
          </a:p>
        </p:txBody>
      </p:sp>
      <p:sp>
        <p:nvSpPr>
          <p:cNvPr id="26" name="Rounded Rectangle 25"/>
          <p:cNvSpPr/>
          <p:nvPr/>
        </p:nvSpPr>
        <p:spPr>
          <a:xfrm>
            <a:off x="3840480" y="5504687"/>
            <a:ext cx="1005840" cy="256032"/>
          </a:xfrm>
          <a:prstGeom prst="roundRect">
            <a:avLst>
              <a:gd name="adj" fmla="val 5000"/>
            </a:avLst>
          </a:prstGeom>
          <a:solidFill>
            <a:srgbClr val="101622"/>
          </a:solidFill>
          <a:ln w="1270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40480" y="5504687"/>
            <a:ext cx="1005840" cy="256032"/>
          </a:xfrm>
          <a:prstGeom prst="rect">
            <a:avLst/>
          </a:prstGeom>
          <a:noFill/>
        </p:spPr>
        <p:txBody>
          <a:bodyPr wrap="square">
            <a:spAutoFit/>
          </a:bodyPr>
          <a:lstStyle/>
          <a:p>
            <a:pPr algn="ctr">
              <a:defRPr sz="900" b="1">
                <a:solidFill>
                  <a:srgbClr val="9CA3AF"/>
                </a:solidFill>
                <a:latin typeface="Calibri"/>
              </a:defRPr>
            </a:pPr>
            <a:r>
              <a:t>PLANNED</a:t>
            </a:r>
          </a:p>
        </p:txBody>
      </p:sp>
      <p:sp>
        <p:nvSpPr>
          <p:cNvPr id="28" name="TextBox 27"/>
          <p:cNvSpPr txBox="1"/>
          <p:nvPr/>
        </p:nvSpPr>
        <p:spPr>
          <a:xfrm>
            <a:off x="5029200" y="5532119"/>
            <a:ext cx="6400800" cy="640080"/>
          </a:xfrm>
          <a:prstGeom prst="rect">
            <a:avLst/>
          </a:prstGeom>
          <a:noFill/>
        </p:spPr>
        <p:txBody>
          <a:bodyPr wrap="square">
            <a:spAutoFit/>
          </a:bodyPr>
          <a:lstStyle/>
          <a:p>
            <a:pPr algn="l">
              <a:defRPr sz="1000" b="0">
                <a:solidFill>
                  <a:srgbClr val="9CA3AF"/>
                </a:solidFill>
                <a:latin typeface="Calibri"/>
              </a:defRPr>
            </a:pPr>
            <a:r>
              <a:t>Mobile responsive design   |   Performance optimization   |   Onboarding wizard   |   Usage analytics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622"/>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3200" b="1">
                <a:solidFill>
                  <a:srgbClr val="FFFFFF"/>
                </a:solidFill>
                <a:latin typeface="Calibri"/>
              </a:defRPr>
            </a:pPr>
            <a:r>
              <a:t>Security &amp; Privacy Architecture</a:t>
            </a:r>
          </a:p>
        </p:txBody>
      </p:sp>
      <p:sp>
        <p:nvSpPr>
          <p:cNvPr id="3" name="Rectangle 2"/>
          <p:cNvSpPr/>
          <p:nvPr/>
        </p:nvSpPr>
        <p:spPr>
          <a:xfrm>
            <a:off x="731520" y="914400"/>
            <a:ext cx="1828800" cy="36576"/>
          </a:xfrm>
          <a:prstGeom prst="rect">
            <a:avLst/>
          </a:prstGeom>
          <a:solidFill>
            <a:srgbClr val="0D5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280160"/>
            <a:ext cx="2651760" cy="292608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2286000" cy="365760"/>
          </a:xfrm>
          <a:prstGeom prst="rect">
            <a:avLst/>
          </a:prstGeom>
          <a:noFill/>
        </p:spPr>
        <p:txBody>
          <a:bodyPr wrap="square">
            <a:spAutoFit/>
          </a:bodyPr>
          <a:lstStyle/>
          <a:p>
            <a:pPr algn="ctr">
              <a:defRPr sz="1600" b="1">
                <a:solidFill>
                  <a:srgbClr val="34D399"/>
                </a:solidFill>
                <a:latin typeface="Calibri"/>
              </a:defRPr>
            </a:pPr>
            <a:r>
              <a:t>Local-First Data</a:t>
            </a:r>
          </a:p>
        </p:txBody>
      </p:sp>
      <p:sp>
        <p:nvSpPr>
          <p:cNvPr id="6" name="Rectangle 5"/>
          <p:cNvSpPr/>
          <p:nvPr/>
        </p:nvSpPr>
        <p:spPr>
          <a:xfrm>
            <a:off x="731520" y="1783080"/>
            <a:ext cx="2103120" cy="18288"/>
          </a:xfrm>
          <a:prstGeom prst="rect">
            <a:avLst/>
          </a:prstGeom>
          <a:solidFill>
            <a:srgbClr val="282E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2103120" cy="2011680"/>
          </a:xfrm>
          <a:prstGeom prst="rect">
            <a:avLst/>
          </a:prstGeom>
          <a:noFill/>
        </p:spPr>
        <p:txBody>
          <a:bodyPr wrap="square">
            <a:spAutoFit/>
          </a:bodyPr>
          <a:lstStyle/>
          <a:p>
            <a:pPr>
              <a:spcAft>
                <a:spcPts val="600"/>
              </a:spcAft>
              <a:defRPr sz="1200">
                <a:solidFill>
                  <a:srgbClr val="9CA3AF"/>
                </a:solidFill>
                <a:latin typeface="Calibri"/>
              </a:defRPr>
            </a:pPr>
            <a:r>
              <a:t>All data stored locally in PostgreSQL</a:t>
            </a:r>
          </a:p>
          <a:p>
            <a:pPr>
              <a:spcAft>
                <a:spcPts val="600"/>
              </a:spcAft>
              <a:defRPr sz="1200">
                <a:solidFill>
                  <a:srgbClr val="9CA3AF"/>
                </a:solidFill>
                <a:latin typeface="Calibri"/>
              </a:defRPr>
            </a:pPr>
            <a:r>
              <a:t>No cloud sync or external storage</a:t>
            </a:r>
          </a:p>
          <a:p>
            <a:pPr>
              <a:spcAft>
                <a:spcPts val="600"/>
              </a:spcAft>
              <a:defRPr sz="1200">
                <a:solidFill>
                  <a:srgbClr val="9CA3AF"/>
                </a:solidFill>
                <a:latin typeface="Calibri"/>
              </a:defRPr>
            </a:pPr>
            <a:r>
              <a:t>User owns and controls all data</a:t>
            </a:r>
          </a:p>
          <a:p>
            <a:pPr>
              <a:spcAft>
                <a:spcPts val="600"/>
              </a:spcAft>
              <a:defRPr sz="1200">
                <a:solidFill>
                  <a:srgbClr val="9CA3AF"/>
                </a:solidFill>
                <a:latin typeface="Calibri"/>
              </a:defRPr>
            </a:pPr>
            <a:r>
              <a:t>Self-hosted deployment model</a:t>
            </a:r>
          </a:p>
        </p:txBody>
      </p:sp>
      <p:sp>
        <p:nvSpPr>
          <p:cNvPr id="8" name="Rounded Rectangle 7"/>
          <p:cNvSpPr/>
          <p:nvPr/>
        </p:nvSpPr>
        <p:spPr>
          <a:xfrm>
            <a:off x="3337560" y="1280160"/>
            <a:ext cx="2651760" cy="292608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20440" y="1371600"/>
            <a:ext cx="2286000" cy="365760"/>
          </a:xfrm>
          <a:prstGeom prst="rect">
            <a:avLst/>
          </a:prstGeom>
          <a:noFill/>
        </p:spPr>
        <p:txBody>
          <a:bodyPr wrap="square">
            <a:spAutoFit/>
          </a:bodyPr>
          <a:lstStyle/>
          <a:p>
            <a:pPr algn="ctr">
              <a:defRPr sz="1600" b="1">
                <a:solidFill>
                  <a:srgbClr val="0D59F2"/>
                </a:solidFill>
                <a:latin typeface="Calibri"/>
              </a:defRPr>
            </a:pPr>
            <a:r>
              <a:t>Authentication</a:t>
            </a:r>
          </a:p>
        </p:txBody>
      </p:sp>
      <p:sp>
        <p:nvSpPr>
          <p:cNvPr id="10" name="Rectangle 9"/>
          <p:cNvSpPr/>
          <p:nvPr/>
        </p:nvSpPr>
        <p:spPr>
          <a:xfrm>
            <a:off x="3611880" y="1783080"/>
            <a:ext cx="2103120" cy="18288"/>
          </a:xfrm>
          <a:prstGeom prst="rect">
            <a:avLst/>
          </a:prstGeom>
          <a:solidFill>
            <a:srgbClr val="282E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1920240"/>
            <a:ext cx="2103120" cy="2011680"/>
          </a:xfrm>
          <a:prstGeom prst="rect">
            <a:avLst/>
          </a:prstGeom>
          <a:noFill/>
        </p:spPr>
        <p:txBody>
          <a:bodyPr wrap="square">
            <a:spAutoFit/>
          </a:bodyPr>
          <a:lstStyle/>
          <a:p>
            <a:pPr>
              <a:spcAft>
                <a:spcPts val="600"/>
              </a:spcAft>
              <a:defRPr sz="1200">
                <a:solidFill>
                  <a:srgbClr val="9CA3AF"/>
                </a:solidFill>
                <a:latin typeface="Calibri"/>
              </a:defRPr>
            </a:pPr>
            <a:r>
              <a:t>JWT tokens with configurable expiry</a:t>
            </a:r>
          </a:p>
          <a:p>
            <a:pPr>
              <a:spcAft>
                <a:spcPts val="600"/>
              </a:spcAft>
              <a:defRPr sz="1200">
                <a:solidFill>
                  <a:srgbClr val="9CA3AF"/>
                </a:solidFill>
                <a:latin typeface="Calibri"/>
              </a:defRPr>
            </a:pPr>
            <a:r>
              <a:t>Bcrypt password hashing</a:t>
            </a:r>
          </a:p>
          <a:p>
            <a:pPr>
              <a:spcAft>
                <a:spcPts val="600"/>
              </a:spcAft>
              <a:defRPr sz="1200">
                <a:solidFill>
                  <a:srgbClr val="9CA3AF"/>
                </a:solidFill>
                <a:latin typeface="Calibri"/>
              </a:defRPr>
            </a:pPr>
            <a:r>
              <a:t>OAuth 2.0 for all integrations</a:t>
            </a:r>
          </a:p>
          <a:p>
            <a:pPr>
              <a:spcAft>
                <a:spcPts val="600"/>
              </a:spcAft>
              <a:defRPr sz="1200">
                <a:solidFill>
                  <a:srgbClr val="9CA3AF"/>
                </a:solidFill>
                <a:latin typeface="Calibri"/>
              </a:defRPr>
            </a:pPr>
            <a:r>
              <a:t>Secure token refresh flows</a:t>
            </a:r>
          </a:p>
        </p:txBody>
      </p:sp>
      <p:sp>
        <p:nvSpPr>
          <p:cNvPr id="12" name="Rounded Rectangle 11"/>
          <p:cNvSpPr/>
          <p:nvPr/>
        </p:nvSpPr>
        <p:spPr>
          <a:xfrm>
            <a:off x="6217920" y="1280160"/>
            <a:ext cx="2651760" cy="292608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71600"/>
            <a:ext cx="2286000" cy="365760"/>
          </a:xfrm>
          <a:prstGeom prst="rect">
            <a:avLst/>
          </a:prstGeom>
          <a:noFill/>
        </p:spPr>
        <p:txBody>
          <a:bodyPr wrap="square">
            <a:spAutoFit/>
          </a:bodyPr>
          <a:lstStyle/>
          <a:p>
            <a:pPr algn="ctr">
              <a:defRPr sz="1600" b="1">
                <a:solidFill>
                  <a:srgbClr val="60A5FA"/>
                </a:solidFill>
                <a:latin typeface="Calibri"/>
              </a:defRPr>
            </a:pPr>
            <a:r>
              <a:t>API Security</a:t>
            </a:r>
          </a:p>
        </p:txBody>
      </p:sp>
      <p:sp>
        <p:nvSpPr>
          <p:cNvPr id="14" name="Rectangle 13"/>
          <p:cNvSpPr/>
          <p:nvPr/>
        </p:nvSpPr>
        <p:spPr>
          <a:xfrm>
            <a:off x="6492240" y="1783080"/>
            <a:ext cx="2103120" cy="18288"/>
          </a:xfrm>
          <a:prstGeom prst="rect">
            <a:avLst/>
          </a:prstGeom>
          <a:solidFill>
            <a:srgbClr val="282E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920240"/>
            <a:ext cx="2103120" cy="2011680"/>
          </a:xfrm>
          <a:prstGeom prst="rect">
            <a:avLst/>
          </a:prstGeom>
          <a:noFill/>
        </p:spPr>
        <p:txBody>
          <a:bodyPr wrap="square">
            <a:spAutoFit/>
          </a:bodyPr>
          <a:lstStyle/>
          <a:p>
            <a:pPr>
              <a:spcAft>
                <a:spcPts val="600"/>
              </a:spcAft>
              <a:defRPr sz="1200">
                <a:solidFill>
                  <a:srgbClr val="9CA3AF"/>
                </a:solidFill>
                <a:latin typeface="Calibri"/>
              </a:defRPr>
            </a:pPr>
            <a:r>
              <a:t>Bearer token on every request</a:t>
            </a:r>
          </a:p>
          <a:p>
            <a:pPr>
              <a:spcAft>
                <a:spcPts val="600"/>
              </a:spcAft>
              <a:defRPr sz="1200">
                <a:solidFill>
                  <a:srgbClr val="9CA3AF"/>
                </a:solidFill>
                <a:latin typeface="Calibri"/>
              </a:defRPr>
            </a:pPr>
            <a:r>
              <a:t>CORS configured per environment</a:t>
            </a:r>
          </a:p>
          <a:p>
            <a:pPr>
              <a:spcAft>
                <a:spcPts val="600"/>
              </a:spcAft>
              <a:defRPr sz="1200">
                <a:solidFill>
                  <a:srgbClr val="9CA3AF"/>
                </a:solidFill>
                <a:latin typeface="Calibri"/>
              </a:defRPr>
            </a:pPr>
            <a:r>
              <a:t>Input validation via Pydantic</a:t>
            </a:r>
          </a:p>
          <a:p>
            <a:pPr>
              <a:spcAft>
                <a:spcPts val="600"/>
              </a:spcAft>
              <a:defRPr sz="1200">
                <a:solidFill>
                  <a:srgbClr val="9CA3AF"/>
                </a:solidFill>
                <a:latin typeface="Calibri"/>
              </a:defRPr>
            </a:pPr>
            <a:r>
              <a:t>SQL injection prevention (ORM)</a:t>
            </a:r>
          </a:p>
        </p:txBody>
      </p:sp>
      <p:sp>
        <p:nvSpPr>
          <p:cNvPr id="16" name="Rounded Rectangle 15"/>
          <p:cNvSpPr/>
          <p:nvPr/>
        </p:nvSpPr>
        <p:spPr>
          <a:xfrm>
            <a:off x="9098280" y="1280160"/>
            <a:ext cx="2651760" cy="2926080"/>
          </a:xfrm>
          <a:prstGeom prst="roundRect">
            <a:avLst>
              <a:gd name="adj" fmla="val 5000"/>
            </a:avLst>
          </a:prstGeom>
          <a:solidFill>
            <a:srgbClr val="1B1F27"/>
          </a:solidFill>
          <a:ln w="12700">
            <a:solidFill>
              <a:srgbClr val="282E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81160" y="1371600"/>
            <a:ext cx="2286000" cy="365760"/>
          </a:xfrm>
          <a:prstGeom prst="rect">
            <a:avLst/>
          </a:prstGeom>
          <a:noFill/>
        </p:spPr>
        <p:txBody>
          <a:bodyPr wrap="square">
            <a:spAutoFit/>
          </a:bodyPr>
          <a:lstStyle/>
          <a:p>
            <a:pPr algn="ctr">
              <a:defRPr sz="1600" b="1">
                <a:solidFill>
                  <a:srgbClr val="FBBF24"/>
                </a:solidFill>
                <a:latin typeface="Calibri"/>
              </a:defRPr>
            </a:pPr>
            <a:r>
              <a:t>AI Privacy</a:t>
            </a:r>
          </a:p>
        </p:txBody>
      </p:sp>
      <p:sp>
        <p:nvSpPr>
          <p:cNvPr id="18" name="Rectangle 17"/>
          <p:cNvSpPr/>
          <p:nvPr/>
        </p:nvSpPr>
        <p:spPr>
          <a:xfrm>
            <a:off x="9372600" y="1783080"/>
            <a:ext cx="2103120" cy="18288"/>
          </a:xfrm>
          <a:prstGeom prst="rect">
            <a:avLst/>
          </a:prstGeom>
          <a:solidFill>
            <a:srgbClr val="282E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72600" y="1920240"/>
            <a:ext cx="2103120" cy="2011680"/>
          </a:xfrm>
          <a:prstGeom prst="rect">
            <a:avLst/>
          </a:prstGeom>
          <a:noFill/>
        </p:spPr>
        <p:txBody>
          <a:bodyPr wrap="square">
            <a:spAutoFit/>
          </a:bodyPr>
          <a:lstStyle/>
          <a:p>
            <a:pPr>
              <a:spcAft>
                <a:spcPts val="600"/>
              </a:spcAft>
              <a:defRPr sz="1200">
                <a:solidFill>
                  <a:srgbClr val="9CA3AF"/>
                </a:solidFill>
                <a:latin typeface="Calibri"/>
              </a:defRPr>
            </a:pPr>
            <a:r>
              <a:t>User provides their own API keys</a:t>
            </a:r>
          </a:p>
          <a:p>
            <a:pPr>
              <a:spcAft>
                <a:spcPts val="600"/>
              </a:spcAft>
              <a:defRPr sz="1200">
                <a:solidFill>
                  <a:srgbClr val="9CA3AF"/>
                </a:solidFill>
                <a:latin typeface="Calibri"/>
              </a:defRPr>
            </a:pPr>
            <a:r>
              <a:t>No data shared with third parties</a:t>
            </a:r>
          </a:p>
          <a:p>
            <a:pPr>
              <a:spcAft>
                <a:spcPts val="600"/>
              </a:spcAft>
              <a:defRPr sz="1200">
                <a:solidFill>
                  <a:srgbClr val="9CA3AF"/>
                </a:solidFill>
                <a:latin typeface="Calibri"/>
              </a:defRPr>
            </a:pPr>
            <a:r>
              <a:t>Multi-provider support (local Ollama)</a:t>
            </a:r>
          </a:p>
          <a:p>
            <a:pPr>
              <a:spcAft>
                <a:spcPts val="600"/>
              </a:spcAft>
              <a:defRPr sz="1200">
                <a:solidFill>
                  <a:srgbClr val="9CA3AF"/>
                </a:solidFill>
                <a:latin typeface="Calibri"/>
              </a:defRPr>
            </a:pPr>
            <a:r>
              <a:t>Data never leaves user's machine</a:t>
            </a:r>
          </a:p>
        </p:txBody>
      </p:sp>
      <p:sp>
        <p:nvSpPr>
          <p:cNvPr id="20" name="Rounded Rectangle 19"/>
          <p:cNvSpPr/>
          <p:nvPr/>
        </p:nvSpPr>
        <p:spPr>
          <a:xfrm>
            <a:off x="457200" y="4572000"/>
            <a:ext cx="11247120" cy="914400"/>
          </a:xfrm>
          <a:prstGeom prst="roundRect">
            <a:avLst>
              <a:gd name="adj" fmla="val 5000"/>
            </a:avLst>
          </a:prstGeom>
          <a:solidFill>
            <a:srgbClr val="0A2A50"/>
          </a:solidFill>
          <a:ln w="12700">
            <a:solidFill>
              <a:srgbClr val="0D59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663440"/>
            <a:ext cx="10332720" cy="731520"/>
          </a:xfrm>
          <a:prstGeom prst="rect">
            <a:avLst/>
          </a:prstGeom>
          <a:noFill/>
        </p:spPr>
        <p:txBody>
          <a:bodyPr wrap="square">
            <a:spAutoFit/>
          </a:bodyPr>
          <a:lstStyle/>
          <a:p>
            <a:pPr algn="l">
              <a:defRPr sz="1300" b="0">
                <a:solidFill>
                  <a:srgbClr val="FFFFFF"/>
                </a:solidFill>
                <a:latin typeface="Calibri"/>
              </a:defRPr>
            </a:pPr>
            <a:r>
              <a:t>Core Principle:  FlowState is designed so that sensitive data (emails, messages, calendar events, meeting transcripts) never leaves the user's local environment. All AI processing uses the user's own API keys, and no data is transmitted to FlowState servers.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622"/>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D5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058400" cy="914400"/>
          </a:xfrm>
          <a:prstGeom prst="rect">
            <a:avLst/>
          </a:prstGeom>
          <a:noFill/>
        </p:spPr>
        <p:txBody>
          <a:bodyPr wrap="square">
            <a:spAutoFit/>
          </a:bodyPr>
          <a:lstStyle/>
          <a:p>
            <a:pPr algn="ctr">
              <a:defRPr sz="4800" b="1">
                <a:solidFill>
                  <a:srgbClr val="FFFFFF"/>
                </a:solidFill>
                <a:latin typeface="Calibri"/>
              </a:defRPr>
            </a:pPr>
            <a:r>
              <a:t>FlowState</a:t>
            </a:r>
          </a:p>
        </p:txBody>
      </p:sp>
      <p:sp>
        <p:nvSpPr>
          <p:cNvPr id="4" name="TextBox 3"/>
          <p:cNvSpPr txBox="1"/>
          <p:nvPr/>
        </p:nvSpPr>
        <p:spPr>
          <a:xfrm>
            <a:off x="914400" y="3200400"/>
            <a:ext cx="10058400" cy="548640"/>
          </a:xfrm>
          <a:prstGeom prst="rect">
            <a:avLst/>
          </a:prstGeom>
          <a:noFill/>
        </p:spPr>
        <p:txBody>
          <a:bodyPr wrap="square">
            <a:spAutoFit/>
          </a:bodyPr>
          <a:lstStyle/>
          <a:p>
            <a:pPr algn="ctr">
              <a:defRPr sz="2200" b="0">
                <a:solidFill>
                  <a:srgbClr val="0D59F2"/>
                </a:solidFill>
                <a:latin typeface="Calibri"/>
              </a:defRPr>
            </a:pPr>
            <a:r>
              <a:t>Your AI-Powered Productivity OS</a:t>
            </a:r>
          </a:p>
        </p:txBody>
      </p:sp>
      <p:sp>
        <p:nvSpPr>
          <p:cNvPr id="5" name="TextBox 4"/>
          <p:cNvSpPr txBox="1"/>
          <p:nvPr/>
        </p:nvSpPr>
        <p:spPr>
          <a:xfrm>
            <a:off x="914400" y="4114800"/>
            <a:ext cx="10058400" cy="457200"/>
          </a:xfrm>
          <a:prstGeom prst="rect">
            <a:avLst/>
          </a:prstGeom>
          <a:noFill/>
        </p:spPr>
        <p:txBody>
          <a:bodyPr wrap="square">
            <a:spAutoFit/>
          </a:bodyPr>
          <a:lstStyle/>
          <a:p>
            <a:pPr algn="ctr">
              <a:defRPr sz="1400" b="0">
                <a:solidFill>
                  <a:srgbClr val="9CA3AF"/>
                </a:solidFill>
                <a:latin typeface="Calibri"/>
              </a:defRPr>
            </a:pPr>
            <a:r>
              <a:t>github.com/C-ollo/FlowState-Productivity-Assistant</a:t>
            </a:r>
          </a:p>
        </p:txBody>
      </p:sp>
      <p:sp>
        <p:nvSpPr>
          <p:cNvPr id="6" name="Rectangle 5"/>
          <p:cNvSpPr/>
          <p:nvPr/>
        </p:nvSpPr>
        <p:spPr>
          <a:xfrm>
            <a:off x="0" y="6492240"/>
            <a:ext cx="12191695" cy="365760"/>
          </a:xfrm>
          <a:prstGeom prst="rect">
            <a:avLst/>
          </a:prstGeom>
          <a:solidFill>
            <a:srgbClr val="1B1F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